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83" r:id="rId4"/>
    <p:sldId id="259" r:id="rId5"/>
    <p:sldId id="285" r:id="rId6"/>
    <p:sldId id="287" r:id="rId7"/>
    <p:sldId id="260" r:id="rId8"/>
    <p:sldId id="261" r:id="rId9"/>
    <p:sldId id="262" r:id="rId10"/>
    <p:sldId id="270" r:id="rId11"/>
    <p:sldId id="271" r:id="rId12"/>
    <p:sldId id="263" r:id="rId13"/>
    <p:sldId id="269" r:id="rId14"/>
    <p:sldId id="272" r:id="rId15"/>
    <p:sldId id="276" r:id="rId16"/>
    <p:sldId id="277" r:id="rId17"/>
    <p:sldId id="279" r:id="rId18"/>
    <p:sldId id="273" r:id="rId19"/>
    <p:sldId id="280" r:id="rId20"/>
    <p:sldId id="281" r:id="rId21"/>
    <p:sldId id="282" r:id="rId22"/>
    <p:sldId id="288" r:id="rId23"/>
    <p:sldId id="289" r:id="rId24"/>
    <p:sldId id="265" r:id="rId25"/>
    <p:sldId id="290" r:id="rId26"/>
    <p:sldId id="274" r:id="rId27"/>
    <p:sldId id="291" r:id="rId28"/>
    <p:sldId id="275" r:id="rId29"/>
    <p:sldId id="266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B2A"/>
    <a:srgbClr val="1B7A7A"/>
    <a:srgbClr val="F0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31" autoAdjust="0"/>
    <p:restoredTop sz="69145" autoAdjust="0"/>
  </p:normalViewPr>
  <p:slideViewPr>
    <p:cSldViewPr snapToGrid="0" snapToObjects="1">
      <p:cViewPr varScale="1">
        <p:scale>
          <a:sx n="150" d="100"/>
          <a:sy n="150" d="100"/>
        </p:scale>
        <p:origin x="199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5975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33874-E2D9-D11A-62AF-365809AC6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68C2D-CBC5-92F0-4DA5-CB9CB1779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24C40A-CAB8-E29A-5A8A-6FEBA68CB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78365-CBE2-2DAC-F592-62AD9787A9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26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FEF3F-116F-9882-E441-4924188A2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9BEA0-61A0-08FE-28BD-B59C93525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16568B-8CD6-9DF5-873A-9FFE06C19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1A39A-F29E-AD3C-6D79-616B60F6A6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39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F417A-93CF-5B44-6F36-64C645091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0B779-9DAB-8556-A856-D4F90B4D9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B26FF6-DF1E-BABE-B1FF-C57DC32AF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A6D94-F83F-8977-E3DD-7BC4D595C1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8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6B82C-8AA7-9739-63EB-A61A2C4F2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5BBFF-659B-F4BD-DBCE-5F17059D5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26DA3B-DE72-BAEF-C857-F6B451995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09712-10A6-0D1F-BD17-62CB627B0F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15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98469-AD51-A1D6-E243-9DA1F179B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92189-02B8-A942-A3B9-88B2A4892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E9E2B4-82A7-CE49-30BF-E4B7FBC55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3642F-83F6-5A04-EE9D-BE65DE79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84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A3D39-C8A7-10D7-DADC-2857DB31A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A471E-2CB8-9A9D-0585-6F211C75F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8A2B1-C868-01B3-645B-330191AF2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9FB5E-F367-FBA3-9CFE-4B8034A7A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470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472CD-2D56-3D95-17DB-51C8AAD07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BCE38-234E-4062-E767-F6F51AB34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2F52A-03CE-4EBD-8714-379CEBBD8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89FE3-A93A-BBC9-4713-E535B0E39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282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70871-4A22-9E76-E5C9-1FE0600A2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A3B09-9B3A-A09A-C033-3F6DFBC8F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8F9EA-9703-9747-6DFC-1C3D69F4B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35D31-1D02-DE5B-0D32-809E57F6B7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048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C5403-27D1-984E-036A-A0B0D545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B96350-A4C1-2688-F221-FF49ACE8B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06D94-92D8-E0AA-1E35-F9A20BD20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B3C05-6139-9FA0-9771-C195DE3F4D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976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57CF6-083B-B922-4428-38337E8D6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BE25F-A68B-F468-AACB-EBF921630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14DFC-76A1-88DB-A30E-49220192D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46A1D-EAA8-4319-DBAA-7144D9DED5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534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B37E8-2862-2BC0-05C3-318830533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4FF89-86F1-8F8F-FC0B-3A8947CBC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6F6DF-9D53-E574-50F1-A9242F0EF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3DF18-5A63-4CB1-7225-D234F7144F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148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70A94-0D72-1E67-F191-D7A8F1E97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79948-D9B1-59CC-DBB8-E07B65ABA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A2A73-9C08-3A81-FEDD-5BF8ECF75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F9E7A-3FFB-6570-A5FB-BF3B41225F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54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ECD1D-14BE-D071-7194-2724B3D16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897D0-B766-1336-5064-19AA4D8B4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F5D560-BD06-AA8E-73C5-224DA3750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2A363-12D3-20E8-96C5-8B5DB9FC2D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350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DD91A-FAA3-E7EB-5F43-842A8E92C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A62080-2F56-2433-FC84-863378961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D6A623-8947-67F9-C102-9E6F842A0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954E3-B0D1-65DB-5B4C-09B3EC83A0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0352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D2467-A487-C7F1-5B50-B380BDCB4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EBFF7-7CCE-167D-5403-7F698A1EB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86681-F62D-3EBF-2A8E-2F464A4C8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B6683-BDFC-B6A5-A6F8-7D50CDC5C7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033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A1F05-4C69-1861-B515-325DF7B2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227A5-03B9-05B6-37EA-28A57AEA9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F2EBA-7029-0294-F6FF-0D5659310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A3EB8-B5B9-EC3D-D684-4B6B876FE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924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BE66D-D1EA-D815-E59F-9B78FFE8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82CFB-2EE0-2568-D585-396AF2790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CA0C1-2D03-C42F-8D8A-519502B9B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43FD2-6B60-D978-667D-344E8FEDBD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908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0C3A1-2E4E-A853-09AC-FC754F620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4B708-CB67-E0E9-9F1C-440AE05B3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B3008-3589-566B-D23D-F6C3C493B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2B6CB-15BA-24AF-C8E6-0E1FBFC45B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884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3C73B-0FBD-3728-E7CF-40841B65B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58F5C-601C-3B65-31A3-80094F7E3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0DEFF-466C-B52B-CA96-1CD2BAACD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AE165-F616-AF80-27A5-EE6E550B22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262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BBF37-DA6E-1092-1E5F-734583117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39329-FCCE-BA5A-0108-71EDD86E5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12E14F-AFF1-784C-D231-73C4AD5FE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B5DAE-21F4-2150-4853-C579402D6E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358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0"/>
            <a:ext cx="640080" cy="16459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0292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Digitalna forenzika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Forenzika fajl sistema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85229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 alata za </a:t>
            </a:r>
            <a:r>
              <a:rPr lang="en-US" sz="180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sr-Latn-R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</a:t>
            </a:r>
            <a:r>
              <a:rPr lang="sr-Latn-R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 fajl sistema korišćenjem </a:t>
            </a:r>
            <a:r>
              <a:rPr lang="en-U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space-</a:t>
            </a:r>
            <a:r>
              <a:rPr lang="sr-Latn-R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2697480"/>
            <a:ext cx="5029200" cy="36576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8803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Anja Tonsa Milovanović </a:t>
            </a:r>
            <a:r>
              <a:rPr lang="sr-Latn-RS" sz="13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br. </a:t>
            </a:r>
            <a:r>
              <a:rPr lang="sr-Latn-RS" sz="1300" dirty="0" err="1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</a:t>
            </a:r>
            <a:r>
              <a:rPr lang="sr-Latn-RS" sz="13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1815</a:t>
            </a:r>
            <a:r>
              <a:rPr lang="en-US" sz="13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Mentor: Prof. dr Bratislav Predić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2461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Elektronski fakultet, Niš  |  </a:t>
            </a:r>
            <a:r>
              <a:rPr lang="en-US" sz="1200" dirty="0" err="1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</a:t>
            </a:r>
            <a:r>
              <a:rPr lang="sr-Latn-RS" sz="12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2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Digitalna forenzika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14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Predstavlja p</a:t>
            </a:r>
            <a:r>
              <a:rPr lang="en-US" sz="1400" i="1" dirty="0" err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rimen</a:t>
            </a:r>
            <a:r>
              <a:rPr lang="sr-Latn-RS" sz="14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14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naučnih i tehničkih principa za prikupljanje, analizu i prezentovanje digitalnih dokaza sa pravnom relevantnošću.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0860" y="2011680"/>
            <a:ext cx="3873500" cy="1325880"/>
          </a:xfrm>
          <a:prstGeom prst="rect">
            <a:avLst/>
          </a:prstGeom>
          <a:solidFill>
            <a:srgbClr val="132233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5452" y="2121408"/>
            <a:ext cx="353667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Integritet podataka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5452" y="2514600"/>
            <a:ext cx="353667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Originalni podaci se ne diraju – radi se na forenzičkim kopijama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65700" y="2011680"/>
            <a:ext cx="3873500" cy="1325880"/>
          </a:xfrm>
          <a:prstGeom prst="rect">
            <a:avLst/>
          </a:prstGeom>
          <a:solidFill>
            <a:srgbClr val="132233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30292" y="2121408"/>
            <a:ext cx="353667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Dokumentovanje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30292" y="2514600"/>
            <a:ext cx="353667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korak mora biti detaljno zabeležen sa vremenskim oznakama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860" y="3520440"/>
            <a:ext cx="3873500" cy="1325880"/>
          </a:xfrm>
          <a:prstGeom prst="rect">
            <a:avLst/>
          </a:prstGeom>
          <a:solidFill>
            <a:srgbClr val="132233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5452" y="3630168"/>
            <a:ext cx="353667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Ponovljivost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5452" y="4023360"/>
            <a:ext cx="353667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mora dati iste rezultate uz iste podatke i metode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65700" y="3520440"/>
            <a:ext cx="3873500" cy="1325880"/>
          </a:xfrm>
          <a:prstGeom prst="rect">
            <a:avLst/>
          </a:prstGeom>
          <a:solidFill>
            <a:srgbClr val="132233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0292" y="3630168"/>
            <a:ext cx="353667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Pravna</a:t>
            </a: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prihvatljivost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30292" y="4023360"/>
            <a:ext cx="353667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Dokazi moraju biti validni i u skladu sa proceduralnim standardima</a:t>
            </a:r>
            <a:endParaRPr lang="en-US" sz="12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B3E19905-5A23-DEFC-B662-9C7C9C6B023A}"/>
              </a:ext>
            </a:extLst>
          </p:cNvPr>
          <p:cNvSpPr/>
          <p:nvPr/>
        </p:nvSpPr>
        <p:spPr>
          <a:xfrm>
            <a:off x="479552" y="153289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Osnovni principi: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BBB9B-1E1A-F9F4-E4DE-2117AE00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7694BB-6C5B-3363-8483-C11407E33A79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Digitalna forenzika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341F4A-7AE8-5316-8D2C-48A5E7C728E8}"/>
              </a:ext>
            </a:extLst>
          </p:cNvPr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14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Predstavlja p</a:t>
            </a:r>
            <a:r>
              <a:rPr lang="en-US" sz="1400" i="1" dirty="0" err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rimen</a:t>
            </a:r>
            <a:r>
              <a:rPr lang="sr-Latn-RS" sz="14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14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naučnih i tehničkih principa za prikupljanje, analizu i prezentovanje digitalnih dokaza sa pravnom relevantnošću.</a:t>
            </a:r>
            <a:endParaRPr lang="en-US" sz="14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DB26F94A-234F-411D-C357-FADDE4867AAA}"/>
              </a:ext>
            </a:extLst>
          </p:cNvPr>
          <p:cNvSpPr/>
          <p:nvPr/>
        </p:nvSpPr>
        <p:spPr>
          <a:xfrm>
            <a:off x="479552" y="153289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 </a:t>
            </a:r>
            <a:r>
              <a:rPr lang="sr-Latn-RS" sz="15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forenzicke</a:t>
            </a:r>
            <a:r>
              <a:rPr lang="sr-Latn-R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analize: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53CEDF6-D675-4C3D-FB77-39188823D028}"/>
              </a:ext>
            </a:extLst>
          </p:cNvPr>
          <p:cNvSpPr/>
          <p:nvPr/>
        </p:nvSpPr>
        <p:spPr>
          <a:xfrm>
            <a:off x="457200" y="1949027"/>
            <a:ext cx="8229600" cy="2125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Prikupljanje podataka – Identifikacija i zaplena digitalnih dokaza, izrada forenzičkih kopija i očuvanje integriteta originalnih podataka.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sr-Latn-RS" sz="125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Ispitivanje podataka – Analiza podataka i </a:t>
            </a:r>
            <a:r>
              <a:rPr lang="sr-Latn-R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metapodataka</a:t>
            </a:r>
            <a:r>
              <a:rPr lang="sr-Latn-R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uključujući oporavak obrisanih podataka, logova i drugih digitalnih tragova.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sr-Latn-RS" sz="125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podataka – Korišćenje forenzičkih metoda i alata za otkrivanje skrivenih informacija i povezivanje nalaza sa potencijalnim akterima.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sr-Latn-RS" sz="125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Izveštavanje – Izrada formalnog izveštaja sa rezultatima istrage, zaključcima i preporukama za dalje postupanje.</a:t>
            </a:r>
            <a:endParaRPr lang="en-US" sz="125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en-US" sz="12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10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08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Osnove fajl sistema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1500" b="1" dirty="0">
                <a:solidFill>
                  <a:srgbClr val="1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Osnovne funkcije fajl sistema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42976" y="1545336"/>
            <a:ext cx="256032" cy="25603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5" name="Text 3"/>
          <p:cNvSpPr/>
          <p:nvPr/>
        </p:nvSpPr>
        <p:spPr>
          <a:xfrm>
            <a:off x="827024" y="1528064"/>
            <a:ext cx="7865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Organizacija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Hijerarhijska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direktorijuma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fajlova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omogućava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jednostavnu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navigaciju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pristup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podacima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2976" y="2112264"/>
            <a:ext cx="256032" cy="25603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7" name="Text 5"/>
          <p:cNvSpPr/>
          <p:nvPr/>
        </p:nvSpPr>
        <p:spPr>
          <a:xfrm>
            <a:off x="827024" y="2093976"/>
            <a:ext cx="7489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Upravljanje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prostorom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Dodela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praćenje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oslobađanje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prostora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pomoću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alokacije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bitmapa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2976" y="2679192"/>
            <a:ext cx="256032" cy="25603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9" name="Text 7"/>
          <p:cNvSpPr/>
          <p:nvPr/>
        </p:nvSpPr>
        <p:spPr>
          <a:xfrm>
            <a:off x="827024" y="2660904"/>
            <a:ext cx="7489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pristupa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Definisanje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dozvola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čitanje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izmenu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izvršavanje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fajlova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zaštite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2976" y="3246120"/>
            <a:ext cx="256032" cy="25603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11" name="Text 9"/>
          <p:cNvSpPr/>
          <p:nvPr/>
        </p:nvSpPr>
        <p:spPr>
          <a:xfrm>
            <a:off x="827024" y="3227832"/>
            <a:ext cx="7489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Upravljanje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metapodacima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Čuvanje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informacija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fajlovima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veličina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vlasnik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vremenske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oznake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dozvole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očuvanje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integriteta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2663D117-372A-12B2-F898-5EBDC0F53E97}"/>
              </a:ext>
            </a:extLst>
          </p:cNvPr>
          <p:cNvSpPr/>
          <p:nvPr/>
        </p:nvSpPr>
        <p:spPr>
          <a:xfrm>
            <a:off x="445008" y="3846576"/>
            <a:ext cx="256032" cy="25603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4763A650-C032-8BB1-F369-FC4BB03B836B}"/>
              </a:ext>
            </a:extLst>
          </p:cNvPr>
          <p:cNvSpPr/>
          <p:nvPr/>
        </p:nvSpPr>
        <p:spPr>
          <a:xfrm>
            <a:off x="827024" y="3800856"/>
            <a:ext cx="7489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Efikasno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pronalaženje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Korišćenje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indeksnih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algoritama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pristup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fajlovima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5440A5-1CD5-C5DA-7F85-BD5169A37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6D68E6-A93B-F73F-671E-38582644463C}"/>
              </a:ext>
            </a:extLst>
          </p:cNvPr>
          <p:cNvSpPr/>
          <p:nvPr/>
        </p:nvSpPr>
        <p:spPr>
          <a:xfrm>
            <a:off x="38608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Osnove fajl sistema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77FD99-C6AE-8E44-8097-EC80AC3F02AE}"/>
              </a:ext>
            </a:extLst>
          </p:cNvPr>
          <p:cNvSpPr/>
          <p:nvPr/>
        </p:nvSpPr>
        <p:spPr>
          <a:xfrm>
            <a:off x="365760" y="9144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1500" b="1" dirty="0">
                <a:solidFill>
                  <a:srgbClr val="1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 fajl sistema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9B7F7AB-BF7B-8951-4C9E-6CB8221B42EB}"/>
              </a:ext>
            </a:extLst>
          </p:cNvPr>
          <p:cNvSpPr/>
          <p:nvPr/>
        </p:nvSpPr>
        <p:spPr>
          <a:xfrm>
            <a:off x="502920" y="1645920"/>
            <a:ext cx="256032" cy="25603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F6E9B28-741B-44CE-3754-4D72415C5754}"/>
              </a:ext>
            </a:extLst>
          </p:cNvPr>
          <p:cNvSpPr/>
          <p:nvPr/>
        </p:nvSpPr>
        <p:spPr>
          <a:xfrm>
            <a:off x="886968" y="1691640"/>
            <a:ext cx="7865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Osnovna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jedinica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čuvanje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predstavlja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logičku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program).</a:t>
            </a:r>
            <a:endParaRPr lang="en-US" sz="12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C4F28EC-9506-2D1B-8F9F-388029342C30}"/>
              </a:ext>
            </a:extLst>
          </p:cNvPr>
          <p:cNvSpPr/>
          <p:nvPr/>
        </p:nvSpPr>
        <p:spPr>
          <a:xfrm>
            <a:off x="502920" y="2212848"/>
            <a:ext cx="256032" cy="25603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5751011-02CF-1AE5-D053-87759D09B9FE}"/>
              </a:ext>
            </a:extLst>
          </p:cNvPr>
          <p:cNvSpPr/>
          <p:nvPr/>
        </p:nvSpPr>
        <p:spPr>
          <a:xfrm>
            <a:off x="886968" y="2194560"/>
            <a:ext cx="7489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Direktorijum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organizuje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fajlove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omogućava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lakšu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navigaciju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kroz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CB1B3CB-A48F-E1FC-ED49-00459CD50253}"/>
              </a:ext>
            </a:extLst>
          </p:cNvPr>
          <p:cNvSpPr/>
          <p:nvPr/>
        </p:nvSpPr>
        <p:spPr>
          <a:xfrm>
            <a:off x="502920" y="2779776"/>
            <a:ext cx="256032" cy="25603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046BE12-6B70-9BE9-5EBD-0D76393DAF87}"/>
              </a:ext>
            </a:extLst>
          </p:cNvPr>
          <p:cNvSpPr/>
          <p:nvPr/>
        </p:nvSpPr>
        <p:spPr>
          <a:xfrm>
            <a:off x="886968" y="2761488"/>
            <a:ext cx="7489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Metapodaci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opisuju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osobine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kao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veličina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vlasnik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dozvole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vremenske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oznake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47FDD3F-D0E8-FEE5-3A9B-C7EC0431FC0C}"/>
              </a:ext>
            </a:extLst>
          </p:cNvPr>
          <p:cNvSpPr/>
          <p:nvPr/>
        </p:nvSpPr>
        <p:spPr>
          <a:xfrm>
            <a:off x="502920" y="3346704"/>
            <a:ext cx="256032" cy="25603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29007BC-54C3-0848-0E2C-0E925133155C}"/>
              </a:ext>
            </a:extLst>
          </p:cNvPr>
          <p:cNvSpPr/>
          <p:nvPr/>
        </p:nvSpPr>
        <p:spPr>
          <a:xfrm>
            <a:off x="886968" y="3328416"/>
            <a:ext cx="7489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Kontrolni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fajla</a:t>
            </a:r>
            <a:r>
              <a:rPr lang="sr-Latn-R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Interna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čuva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metapodatke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lokaciju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potrebne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upravljanje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fajlom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674267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350D3-4C01-FAC6-F182-EF9737990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27EAF90-9F80-BD85-A49E-6116CA493A39}"/>
              </a:ext>
            </a:extLst>
          </p:cNvPr>
          <p:cNvSpPr/>
          <p:nvPr/>
        </p:nvSpPr>
        <p:spPr>
          <a:xfrm>
            <a:off x="38608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Osnove fajl sistema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3E4C1E-D430-7506-B9F2-46DE76173146}"/>
              </a:ext>
            </a:extLst>
          </p:cNvPr>
          <p:cNvSpPr/>
          <p:nvPr/>
        </p:nvSpPr>
        <p:spPr>
          <a:xfrm>
            <a:off x="365760" y="9144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1500" b="1" dirty="0">
                <a:solidFill>
                  <a:srgbClr val="1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Organizacija podataka na disku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46C77B-79B6-0D97-6179-B61FCC5DFB76}"/>
              </a:ext>
            </a:extLst>
          </p:cNvPr>
          <p:cNvSpPr/>
          <p:nvPr/>
        </p:nvSpPr>
        <p:spPr>
          <a:xfrm>
            <a:off x="502920" y="1645920"/>
            <a:ext cx="256032" cy="25603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E97088-6905-E84E-E8A5-183DD94604AC}"/>
              </a:ext>
            </a:extLst>
          </p:cNvPr>
          <p:cNvSpPr/>
          <p:nvPr/>
        </p:nvSpPr>
        <p:spPr>
          <a:xfrm>
            <a:off x="886968" y="1691640"/>
            <a:ext cx="7865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povezuje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logičku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fajlova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direktorijuma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fizičkim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rasporedom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90806F6-FCF5-8138-8737-12D3F00D857C}"/>
              </a:ext>
            </a:extLst>
          </p:cNvPr>
          <p:cNvSpPr/>
          <p:nvPr/>
        </p:nvSpPr>
        <p:spPr>
          <a:xfrm>
            <a:off x="502920" y="2212848"/>
            <a:ext cx="256032" cy="25603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EB2CA6-826A-9A1C-0AA2-7ED176D01C2C}"/>
              </a:ext>
            </a:extLst>
          </p:cNvPr>
          <p:cNvSpPr/>
          <p:nvPr/>
        </p:nvSpPr>
        <p:spPr>
          <a:xfrm>
            <a:off x="886968" y="2194560"/>
            <a:ext cx="7489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 je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osnovna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fizička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jedinica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skladištenja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predstavljaju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osnovnu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jedinicu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alokacije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prostora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7C3B37A-9FD9-7A9C-240B-DE9B9FA8C76A}"/>
              </a:ext>
            </a:extLst>
          </p:cNvPr>
          <p:cNvSpPr/>
          <p:nvPr/>
        </p:nvSpPr>
        <p:spPr>
          <a:xfrm>
            <a:off x="502920" y="2779776"/>
            <a:ext cx="256032" cy="25603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3FF7400-F805-6121-3398-89EA0D1E9AC5}"/>
              </a:ext>
            </a:extLst>
          </p:cNvPr>
          <p:cNvSpPr/>
          <p:nvPr/>
        </p:nvSpPr>
        <p:spPr>
          <a:xfrm>
            <a:off x="886968" y="2761488"/>
            <a:ext cx="7489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raspoređuje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fajlove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kroz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jedan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više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memorijskom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uređaju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3F416CB-737D-0A6D-FA4F-1A2CEE942487}"/>
              </a:ext>
            </a:extLst>
          </p:cNvPr>
          <p:cNvSpPr/>
          <p:nvPr/>
        </p:nvSpPr>
        <p:spPr>
          <a:xfrm>
            <a:off x="502920" y="3346704"/>
            <a:ext cx="256032" cy="25603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9C57A7E-E34C-A402-BF34-95A2E286713C}"/>
              </a:ext>
            </a:extLst>
          </p:cNvPr>
          <p:cNvSpPr/>
          <p:nvPr/>
        </p:nvSpPr>
        <p:spPr>
          <a:xfrm>
            <a:off x="886968" y="3328416"/>
            <a:ext cx="7489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Neiskorišćeni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prostor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poslednjem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klasteru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koji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nastaje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veličina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fajla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popuni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dodeljeni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</a:t>
            </a:r>
            <a:r>
              <a:rPr lang="sr-Latn-R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predstavlja </a:t>
            </a:r>
            <a:r>
              <a:rPr lang="sr-Latn-R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B48BDF7-A040-2C2C-D438-4ACEF617CF31}"/>
              </a:ext>
            </a:extLst>
          </p:cNvPr>
          <p:cNvSpPr/>
          <p:nvPr/>
        </p:nvSpPr>
        <p:spPr>
          <a:xfrm>
            <a:off x="5979160" y="3895344"/>
            <a:ext cx="2463800" cy="34747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F3B100B-8E9C-A595-7D71-07042947928F}"/>
              </a:ext>
            </a:extLst>
          </p:cNvPr>
          <p:cNvSpPr/>
          <p:nvPr/>
        </p:nvSpPr>
        <p:spPr>
          <a:xfrm>
            <a:off x="5979160" y="3895344"/>
            <a:ext cx="246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 (3000 B)</a:t>
            </a:r>
            <a:endParaRPr lang="en-US" sz="13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A41FFC9E-3F02-052E-266E-5EB36226F65C}"/>
              </a:ext>
            </a:extLst>
          </p:cNvPr>
          <p:cNvSpPr/>
          <p:nvPr/>
        </p:nvSpPr>
        <p:spPr>
          <a:xfrm>
            <a:off x="5979160" y="4264384"/>
            <a:ext cx="2463800" cy="224835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F39B3A76-7F32-0579-4851-F4ACE0662D9D}"/>
              </a:ext>
            </a:extLst>
          </p:cNvPr>
          <p:cNvSpPr/>
          <p:nvPr/>
        </p:nvSpPr>
        <p:spPr>
          <a:xfrm>
            <a:off x="5979160" y="4264384"/>
            <a:ext cx="2463800" cy="224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Space (1096 B)</a:t>
            </a:r>
            <a:endParaRPr lang="en-US" sz="12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B097F005-2324-4B84-9A90-6677719EDBAC}"/>
              </a:ext>
            </a:extLst>
          </p:cNvPr>
          <p:cNvSpPr/>
          <p:nvPr/>
        </p:nvSpPr>
        <p:spPr>
          <a:xfrm>
            <a:off x="5979160" y="4589618"/>
            <a:ext cx="2463800" cy="114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Klaster 4096 B →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89454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Najpoznatiji fajl sistemi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82040"/>
            <a:ext cx="8412480" cy="777240"/>
          </a:xfrm>
          <a:prstGeom prst="rect">
            <a:avLst/>
          </a:prstGeom>
          <a:solidFill>
            <a:srgbClr val="132233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82040"/>
            <a:ext cx="1920240" cy="77724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82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/ exFAT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93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USB, SD kartice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1191768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Jednostavni i široko kompatibilni fajl sistemi zasnovani na tabeli alokacije, najčešće korišćeni na USB memorijama i prenosivim uređajima, ali bez naprednih bezbednosnih funkcija.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978152"/>
            <a:ext cx="8412480" cy="777240"/>
          </a:xfrm>
          <a:prstGeom prst="rect">
            <a:avLst/>
          </a:prstGeom>
          <a:solidFill>
            <a:srgbClr val="132233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78152"/>
            <a:ext cx="1920240" cy="77724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781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389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(NT+)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23160" y="208788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Savremeni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Windows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zasnovan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MFT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koji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pruža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napredne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kao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dozvole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pristupa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enkripcija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journaling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bogate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forenzičke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artefakte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874264"/>
            <a:ext cx="8412480" cy="777240"/>
          </a:xfrm>
          <a:prstGeom prst="rect">
            <a:avLst/>
          </a:prstGeom>
          <a:solidFill>
            <a:srgbClr val="132233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74264"/>
            <a:ext cx="1920240" cy="77724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8742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HFS / APFS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28574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macOS, iOS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23160" y="2983992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fajl sistemi namenjeni 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uređajima, pri čemu APFS donosi modernu organizaciju prostora, 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 i enkripciju, dok je HFS značajan uglavnom za starije sisteme.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770376"/>
            <a:ext cx="8412480" cy="777240"/>
          </a:xfrm>
          <a:prstGeom prst="rect">
            <a:avLst/>
          </a:prstGeom>
          <a:solidFill>
            <a:srgbClr val="132233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770376"/>
            <a:ext cx="1920240" cy="77724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77037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41818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23160" y="3880104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Standardni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Linux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koji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extents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journaling za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visoke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pouzdanost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očuvanje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integriteta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Tehnike</a:t>
            </a: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skrivanja podataka u fajl sistemu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605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7A7A"/>
            </a:solidFill>
            <a:prstDash val="solid"/>
          </a:ln>
          <a:effectLst>
            <a:outerShdw blurRad="63500" dist="25400" dir="2700000" algn="bl" rotWithShape="0">
              <a:srgbClr val="B0C8D4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109728" cy="1097280"/>
          </a:xfrm>
          <a:prstGeom prst="rect">
            <a:avLst/>
          </a:prstGeom>
          <a:solidFill>
            <a:srgbClr val="1B7A7A"/>
          </a:solidFill>
          <a:ln>
            <a:solidFill>
              <a:srgbClr val="1B7A7A"/>
            </a:solidFill>
          </a:ln>
        </p:spPr>
      </p:sp>
      <p:sp>
        <p:nvSpPr>
          <p:cNvPr id="5" name="Text 3"/>
          <p:cNvSpPr/>
          <p:nvPr/>
        </p:nvSpPr>
        <p:spPr>
          <a:xfrm>
            <a:off x="566928" y="10515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atribut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3898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Najjednostavniji. Fajlovi se sakriju kroz Windows podešavanja. Lako se otkrije uključivanjem prikaza skrivenih fajlova.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1605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7A7A"/>
            </a:solidFill>
            <a:prstDash val="solid"/>
          </a:ln>
          <a:effectLst>
            <a:outerShdw blurRad="63500" dist="25400" dir="2700000" algn="bl" rotWithShape="0">
              <a:srgbClr val="B0C8D4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94560"/>
            <a:ext cx="109728" cy="109728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860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Nealocirani prostor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228600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26243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Brisanje = oslobađanje prostora. Podaci fizički ostaju. File carving pronalazi fajlove po zaglavljima (npr. FF D8 FF za JPEG).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193681"/>
            <a:ext cx="41605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7A7A"/>
            </a:solidFill>
            <a:prstDash val="solid"/>
          </a:ln>
          <a:effectLst>
            <a:outerShdw blurRad="63500" dist="25400" dir="2700000" algn="bl" rotWithShape="0">
              <a:srgbClr val="B0C8D4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193681"/>
            <a:ext cx="109728" cy="109728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17" name="Text 15"/>
          <p:cNvSpPr/>
          <p:nvPr/>
        </p:nvSpPr>
        <p:spPr>
          <a:xfrm>
            <a:off x="4956048" y="2285121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Data Streams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2285121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56048" y="2623449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 specifičnost. Dodatni "tokovi" fajla, nevidljivi u Exploreru. Može čak sadržati i </a:t>
            </a:r>
            <a:r>
              <a:rPr lang="en-US" sz="105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izvršni</a:t>
            </a: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r>
              <a:rPr lang="sr-Latn-R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960120"/>
            <a:ext cx="41605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7A7A"/>
            </a:solidFill>
            <a:prstDash val="solid"/>
          </a:ln>
          <a:effectLst>
            <a:outerShdw blurRad="63500" dist="25400" dir="2700000" algn="bl" rotWithShape="0">
              <a:srgbClr val="B0C8D4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960120"/>
            <a:ext cx="109728" cy="109728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10515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Steganografija</a:t>
            </a:r>
            <a:r>
              <a:rPr lang="sr-Latn-R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nivou fajl sistema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56048" y="13898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Specijalni fajl sistemi (npr. StegFS) distribuuju podatke kao slučajni šum. Bez ključa nemoguće razlikovati od praznog prostora.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435682"/>
            <a:ext cx="41605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7A7A"/>
            </a:solidFill>
            <a:prstDash val="solid"/>
          </a:ln>
          <a:effectLst>
            <a:outerShdw blurRad="63500" dist="25400" dir="2700000" algn="bl" rotWithShape="0">
              <a:srgbClr val="B0C8D4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435682"/>
            <a:ext cx="109728" cy="109728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352712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Space 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703320" y="352712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" y="386545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Direktan upis iza logičkog kraja fajla. Struktura fajla se ne menja. Nevidljivo standardnim alatima. 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alat za skrivanje podataka u slack space-u Ext4 fajl sistema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1920240" cy="1234440"/>
          </a:xfrm>
          <a:prstGeom prst="rect">
            <a:avLst/>
          </a:prstGeom>
          <a:solidFill>
            <a:srgbClr val="132233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920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jezik implementacije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828800"/>
            <a:ext cx="1920240" cy="1234440"/>
          </a:xfrm>
          <a:prstGeom prst="rect">
            <a:avLst/>
          </a:prstGeom>
          <a:solidFill>
            <a:srgbClr val="132233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920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2560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podržani fajl sistem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1920240" cy="1234440"/>
          </a:xfrm>
          <a:prstGeom prst="rect">
            <a:avLst/>
          </a:prstGeom>
          <a:solidFill>
            <a:srgbClr val="132233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920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2560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osnovne komande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1828800"/>
            <a:ext cx="1920240" cy="1234440"/>
          </a:xfrm>
          <a:prstGeom prst="rect">
            <a:avLst/>
          </a:prstGeom>
          <a:solidFill>
            <a:srgbClr val="132233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920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12280" y="2560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za evidenciju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307927"/>
            <a:ext cx="8229600" cy="2125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Osnovna ideja je da alat može da omogući s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meštanje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fajlova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slack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prostor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izmene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Analizom postojećih fajlova pronalazi dostupan 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postor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deli ga na 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sektore (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prodrazumevana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veličina 512B).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omogućava skrivanje, čitanje i brisanje fajlova.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evidencij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skrivenim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podacima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implementirana je SAT(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Table) kao JSON fajl koji čuva evidenciju o tome koji su fajlovi skriveni i gde se nalaze.</a:t>
            </a:r>
          </a:p>
          <a:p>
            <a:pPr algn="just"/>
            <a:endParaRPr lang="en-US" sz="1250" dirty="0"/>
          </a:p>
          <a:p>
            <a:pPr marL="0" indent="0" algn="just">
              <a:buNone/>
            </a:pP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358444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392277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4261104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4599432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BAD1B8-7ADF-F529-5681-1D3F2295E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F958EF-5C0F-5C0C-11C5-3A5463C371C8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C2A7D9-AA72-1474-10DA-0764203974E7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F2BFA4-620B-F2E2-4272-631F3F985546}"/>
              </a:ext>
            </a:extLst>
          </p:cNvPr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Okruženje korišćenja alata i priprema uređaja</a:t>
            </a:r>
            <a:endParaRPr lang="en-US" sz="17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E389140-2C52-46FB-9AC9-86BE292E1ACD}"/>
              </a:ext>
            </a:extLst>
          </p:cNvPr>
          <p:cNvSpPr/>
          <p:nvPr/>
        </p:nvSpPr>
        <p:spPr>
          <a:xfrm>
            <a:off x="541867" y="1667344"/>
            <a:ext cx="8229600" cy="2125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je namenjen prvenstveno za rad sa USB memorijskim uređajima, čime se izbegava rizik od oštećenja podataka na sistemskom disku.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upotrebe potrebno je pripremiti USB uređaj: kreirati particiju, obrisati postojeći sadržaj i formatirati je u ext4 fajl sistem.</a:t>
            </a:r>
            <a:endParaRPr lang="en-US" sz="1250" dirty="0">
              <a:solidFill>
                <a:srgbClr val="E8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Nakon povezivanja uređaj dobija device putanju (npr. /dev/sdb1) i 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putanju (npr. /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mnt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testusb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koristi obe putanje: device putanju za direktan pristup sektorima i 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prostoru, a 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putanju za analizu fajlova i pronalaženje raspoloživog 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prostora.</a:t>
            </a:r>
            <a:endParaRPr lang="en-US" sz="1250" dirty="0"/>
          </a:p>
          <a:p>
            <a:pPr marL="0" indent="0" algn="just">
              <a:buNone/>
            </a:pPr>
            <a:endParaRPr lang="en-US" sz="12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722EDFE-E186-F89D-9A05-73149470D726}"/>
              </a:ext>
            </a:extLst>
          </p:cNvPr>
          <p:cNvSpPr/>
          <p:nvPr/>
        </p:nvSpPr>
        <p:spPr>
          <a:xfrm>
            <a:off x="457200" y="358444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ECDF415-1E65-39E5-8494-B78639D90203}"/>
              </a:ext>
            </a:extLst>
          </p:cNvPr>
          <p:cNvSpPr/>
          <p:nvPr/>
        </p:nvSpPr>
        <p:spPr>
          <a:xfrm>
            <a:off x="457200" y="392277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94325DA-84B9-A863-C964-0296A2D6EC5F}"/>
              </a:ext>
            </a:extLst>
          </p:cNvPr>
          <p:cNvSpPr/>
          <p:nvPr/>
        </p:nvSpPr>
        <p:spPr>
          <a:xfrm>
            <a:off x="457200" y="4261104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7ECE7FE-92C4-2643-B32C-9A19E6DB7A29}"/>
              </a:ext>
            </a:extLst>
          </p:cNvPr>
          <p:cNvSpPr/>
          <p:nvPr/>
        </p:nvSpPr>
        <p:spPr>
          <a:xfrm>
            <a:off x="457200" y="4590965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858957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F988F8-8D3F-EE94-10D4-6EE02876B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36">
            <a:extLst>
              <a:ext uri="{FF2B5EF4-FFF2-40B4-BE49-F238E27FC236}">
                <a16:creationId xmlns:a16="http://schemas.microsoft.com/office/drawing/2014/main" id="{3273F339-AB8E-0BCC-8B4C-891C980A5121}"/>
              </a:ext>
            </a:extLst>
          </p:cNvPr>
          <p:cNvSpPr/>
          <p:nvPr/>
        </p:nvSpPr>
        <p:spPr>
          <a:xfrm>
            <a:off x="320040" y="37033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666FA2CD-7714-CE9B-EEF9-0A93B785696B}"/>
              </a:ext>
            </a:extLst>
          </p:cNvPr>
          <p:cNvSpPr/>
          <p:nvPr/>
        </p:nvSpPr>
        <p:spPr>
          <a:xfrm>
            <a:off x="365760" y="2618825"/>
            <a:ext cx="20116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A7A"/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5678443-BD25-D7FB-D7E6-D6F1B32B07E4}"/>
              </a:ext>
            </a:extLst>
          </p:cNvPr>
          <p:cNvSpPr/>
          <p:nvPr/>
        </p:nvSpPr>
        <p:spPr>
          <a:xfrm>
            <a:off x="365760" y="2637113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hide</a:t>
            </a:r>
            <a:endParaRPr lang="en-US" sz="15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B7FD553-4547-934E-FB16-81B7CEA28E31}"/>
              </a:ext>
            </a:extLst>
          </p:cNvPr>
          <p:cNvSpPr/>
          <p:nvPr/>
        </p:nvSpPr>
        <p:spPr>
          <a:xfrm>
            <a:off x="365760" y="2938865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 jednog ili više fajlova u slack prostor</a:t>
            </a:r>
            <a:endParaRPr lang="en-US" sz="95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3EEDCC24-EACB-4278-169F-91C45A6FF6F1}"/>
              </a:ext>
            </a:extLst>
          </p:cNvPr>
          <p:cNvSpPr/>
          <p:nvPr/>
        </p:nvSpPr>
        <p:spPr>
          <a:xfrm>
            <a:off x="2514600" y="2618825"/>
            <a:ext cx="20116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A7A"/>
            </a:solidFill>
            <a:prstDash val="solid"/>
          </a:ln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40FFFC1E-3B37-15D3-37C8-B96957EA3AC4}"/>
              </a:ext>
            </a:extLst>
          </p:cNvPr>
          <p:cNvSpPr/>
          <p:nvPr/>
        </p:nvSpPr>
        <p:spPr>
          <a:xfrm>
            <a:off x="2514600" y="2637113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endParaRPr lang="en-US" sz="1500" dirty="0">
              <a:solidFill>
                <a:srgbClr val="1B7A7A"/>
              </a:solidFill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5435CF5-D96C-80A5-0A18-B14C44C34E0D}"/>
              </a:ext>
            </a:extLst>
          </p:cNvPr>
          <p:cNvSpPr/>
          <p:nvPr/>
        </p:nvSpPr>
        <p:spPr>
          <a:xfrm>
            <a:off x="2514600" y="2938865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Čitanje i rekonstrukcija skrivenih fajlova</a:t>
            </a:r>
            <a:endParaRPr lang="en-US" sz="95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62A71401-7590-2F2F-BA7B-D8CA872D227B}"/>
              </a:ext>
            </a:extLst>
          </p:cNvPr>
          <p:cNvSpPr/>
          <p:nvPr/>
        </p:nvSpPr>
        <p:spPr>
          <a:xfrm>
            <a:off x="4663440" y="2618825"/>
            <a:ext cx="20116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A7A"/>
            </a:solidFill>
            <a:prstDash val="solid"/>
          </a:ln>
        </p:spPr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BAF5ED0A-C372-7BF9-CC17-71F838AAA721}"/>
              </a:ext>
            </a:extLst>
          </p:cNvPr>
          <p:cNvSpPr/>
          <p:nvPr/>
        </p:nvSpPr>
        <p:spPr>
          <a:xfrm>
            <a:off x="4663440" y="2637113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500" dirty="0">
              <a:solidFill>
                <a:srgbClr val="1B7A7A"/>
              </a:solidFill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FF2AA150-B6D7-EDFD-FEA8-3DD59D585431}"/>
              </a:ext>
            </a:extLst>
          </p:cNvPr>
          <p:cNvSpPr/>
          <p:nvPr/>
        </p:nvSpPr>
        <p:spPr>
          <a:xfrm>
            <a:off x="4663440" y="2938865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Brisanje podataka (prepisivanje nulama)</a:t>
            </a:r>
            <a:endParaRPr lang="en-US" sz="9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8821545-A359-879F-8908-E7B85775983A}"/>
              </a:ext>
            </a:extLst>
          </p:cNvPr>
          <p:cNvSpPr/>
          <p:nvPr/>
        </p:nvSpPr>
        <p:spPr>
          <a:xfrm>
            <a:off x="6812280" y="2618825"/>
            <a:ext cx="20116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A7A"/>
            </a:solidFill>
            <a:prstDash val="solid"/>
          </a:ln>
        </p:spPr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97A7E032-6173-7A3D-D61D-578DF06A54EE}"/>
              </a:ext>
            </a:extLst>
          </p:cNvPr>
          <p:cNvSpPr/>
          <p:nvPr/>
        </p:nvSpPr>
        <p:spPr>
          <a:xfrm>
            <a:off x="6812280" y="2637113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r>
              <a:rPr lang="sr-Latn-RS" sz="1400" b="1" dirty="0">
                <a:solidFill>
                  <a:srgbClr val="1B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r>
              <a:rPr lang="sr-Latn-RS" sz="1400" b="1" dirty="0" err="1">
                <a:solidFill>
                  <a:srgbClr val="1B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hidden_files</a:t>
            </a:r>
            <a:endParaRPr lang="en-US" sz="1400" dirty="0">
              <a:solidFill>
                <a:srgbClr val="1B7A7A"/>
              </a:solidFill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7296E901-4673-185F-177E-B6EBEEB9159E}"/>
              </a:ext>
            </a:extLst>
          </p:cNvPr>
          <p:cNvSpPr/>
          <p:nvPr/>
        </p:nvSpPr>
        <p:spPr>
          <a:xfrm>
            <a:off x="6812280" y="2938865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Prikaz liste skrivenih fajlova iz SAT tabele</a:t>
            </a:r>
            <a:endParaRPr lang="en-US" sz="950" dirty="0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470CE640-145F-AA5B-9622-DF4E6D69ADB6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51" name="Text 1">
            <a:extLst>
              <a:ext uri="{FF2B5EF4-FFF2-40B4-BE49-F238E27FC236}">
                <a16:creationId xmlns:a16="http://schemas.microsoft.com/office/drawing/2014/main" id="{707561D9-CFA3-4139-ABB6-55D95963A6CB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C3180EF5-FA10-1F12-87FC-943D86309614}"/>
              </a:ext>
            </a:extLst>
          </p:cNvPr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Funkcionalnosti alata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039849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>
            <a:extLst>
              <a:ext uri="{FF2B5EF4-FFF2-40B4-BE49-F238E27FC236}">
                <a16:creationId xmlns:a16="http://schemas.microsoft.com/office/drawing/2014/main" id="{B2F46BB9-7AC3-9041-B062-0F9C15764F93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374F1E7-BB46-4C8F-B630-7362CAA0F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091" y="1188720"/>
            <a:ext cx="3238994" cy="3920649"/>
          </a:xfrm>
          <a:prstGeom prst="rect">
            <a:avLst/>
          </a:prstGeom>
        </p:spPr>
      </p:pic>
      <p:sp>
        <p:nvSpPr>
          <p:cNvPr id="55" name="Text 1">
            <a:extLst>
              <a:ext uri="{FF2B5EF4-FFF2-40B4-BE49-F238E27FC236}">
                <a16:creationId xmlns:a16="http://schemas.microsoft.com/office/drawing/2014/main" id="{04A80DE9-2EE5-198A-C328-AAE75C118AAD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57" name="Text 2">
            <a:extLst>
              <a:ext uri="{FF2B5EF4-FFF2-40B4-BE49-F238E27FC236}">
                <a16:creationId xmlns:a16="http://schemas.microsoft.com/office/drawing/2014/main" id="{57D98A4B-6FDE-B286-A0C1-9D2B228EEA8B}"/>
              </a:ext>
            </a:extLst>
          </p:cNvPr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 sistema</a:t>
            </a:r>
            <a:endParaRPr lang="en-US" sz="1700" dirty="0"/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18536265-8BC6-125C-1E90-9A2CC3124FF6}"/>
              </a:ext>
            </a:extLst>
          </p:cNvPr>
          <p:cNvSpPr/>
          <p:nvPr/>
        </p:nvSpPr>
        <p:spPr>
          <a:xfrm>
            <a:off x="457200" y="1607714"/>
            <a:ext cx="4643438" cy="2125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 sistema organizovana je kroz tri osnovne klase </a:t>
            </a:r>
            <a:r>
              <a:rPr lang="sr-Latn-R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DriveHandler</a:t>
            </a:r>
            <a:r>
              <a:rPr lang="sr-Latn-R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sr-Latn-R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FileHandler</a:t>
            </a:r>
            <a:r>
              <a:rPr lang="sr-Latn-R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 </a:t>
            </a:r>
            <a:r>
              <a:rPr lang="sr-Latn-R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StorageManager</a:t>
            </a:r>
            <a:r>
              <a:rPr lang="sr-Latn-R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Funkcije </a:t>
            </a:r>
            <a:r>
              <a:rPr lang="sr-Latn-R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r>
              <a:rPr lang="sr-Latn-R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(), </a:t>
            </a:r>
            <a:r>
              <a:rPr lang="sr-Latn-R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hide</a:t>
            </a:r>
            <a:r>
              <a:rPr lang="sr-Latn-R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(), </a:t>
            </a:r>
            <a:r>
              <a:rPr lang="sr-Latn-R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list_hidden_files</a:t>
            </a:r>
            <a:r>
              <a:rPr lang="sr-Latn-R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(), </a:t>
            </a:r>
            <a:r>
              <a:rPr lang="sr-Latn-R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r>
              <a:rPr lang="sr-Latn-R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() pozivaju metode ovih klasa i na taj način omogućavaju funkcionalnosti sistema.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 slici prikazan je UML klasni dijagram implementiranog rešenja.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F2C94-30C1-331D-1782-3F1E273B8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98EEA60-80D7-2021-C982-537A35CFC990}"/>
              </a:ext>
            </a:extLst>
          </p:cNvPr>
          <p:cNvSpPr/>
          <p:nvPr/>
        </p:nvSpPr>
        <p:spPr>
          <a:xfrm>
            <a:off x="320040" y="2048256"/>
            <a:ext cx="2697480" cy="475488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40C184-B799-A0A8-2ABA-60E1D960ED84}"/>
              </a:ext>
            </a:extLst>
          </p:cNvPr>
          <p:cNvSpPr/>
          <p:nvPr/>
        </p:nvSpPr>
        <p:spPr>
          <a:xfrm>
            <a:off x="320040" y="204825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DriveHandler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9FC3A93-D552-B751-46E5-8048CE499BFC}"/>
              </a:ext>
            </a:extLst>
          </p:cNvPr>
          <p:cNvSpPr/>
          <p:nvPr/>
        </p:nvSpPr>
        <p:spPr>
          <a:xfrm>
            <a:off x="320040" y="2523744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2CDBC26-F98D-DF7F-2B21-EA870F5B0A40}"/>
              </a:ext>
            </a:extLst>
          </p:cNvPr>
          <p:cNvSpPr/>
          <p:nvPr/>
        </p:nvSpPr>
        <p:spPr>
          <a:xfrm>
            <a:off x="457200" y="2660904"/>
            <a:ext cx="182880" cy="18288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57F90E-4AD6-C9A3-5E6D-E9854EE2637D}"/>
              </a:ext>
            </a:extLst>
          </p:cNvPr>
          <p:cNvSpPr/>
          <p:nvPr/>
        </p:nvSpPr>
        <p:spPr>
          <a:xfrm>
            <a:off x="722376" y="26243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Pronalazi sve fajlove na particiji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6AAF0FF-5815-3908-C436-9EF41C9A1F78}"/>
              </a:ext>
            </a:extLst>
          </p:cNvPr>
          <p:cNvSpPr/>
          <p:nvPr/>
        </p:nvSpPr>
        <p:spPr>
          <a:xfrm>
            <a:off x="457200" y="3136392"/>
            <a:ext cx="182880" cy="18288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0999A80-978D-39CF-0831-FF0C1C67CF19}"/>
              </a:ext>
            </a:extLst>
          </p:cNvPr>
          <p:cNvSpPr/>
          <p:nvPr/>
        </p:nvSpPr>
        <p:spPr>
          <a:xfrm>
            <a:off x="722376" y="309981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Analizira inode + extent zapise (debugfs)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0C6304D-5B5B-0520-E98A-4BB5CFB7AF2F}"/>
              </a:ext>
            </a:extLst>
          </p:cNvPr>
          <p:cNvSpPr/>
          <p:nvPr/>
        </p:nvSpPr>
        <p:spPr>
          <a:xfrm>
            <a:off x="457200" y="3611880"/>
            <a:ext cx="182880" cy="18288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2CF58C2-CF3C-8466-55F7-832BDAE94A56}"/>
              </a:ext>
            </a:extLst>
          </p:cNvPr>
          <p:cNvSpPr/>
          <p:nvPr/>
        </p:nvSpPr>
        <p:spPr>
          <a:xfrm>
            <a:off x="722376" y="357530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Izračunava slack prostor svakog fajla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496EAF7-FC5D-A316-6F2E-558B54142D9D}"/>
              </a:ext>
            </a:extLst>
          </p:cNvPr>
          <p:cNvSpPr/>
          <p:nvPr/>
        </p:nvSpPr>
        <p:spPr>
          <a:xfrm>
            <a:off x="457200" y="4087368"/>
            <a:ext cx="182880" cy="18288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1C1241C-F95D-5418-3E9C-EBF97BE30CA1}"/>
              </a:ext>
            </a:extLst>
          </p:cNvPr>
          <p:cNvSpPr/>
          <p:nvPr/>
        </p:nvSpPr>
        <p:spPr>
          <a:xfrm>
            <a:off x="722376" y="405079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Mapira slack → fizički sektori (512B)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A44D8E5-DF85-E612-E9F2-BD43C13F8691}"/>
              </a:ext>
            </a:extLst>
          </p:cNvPr>
          <p:cNvSpPr/>
          <p:nvPr/>
        </p:nvSpPr>
        <p:spPr>
          <a:xfrm>
            <a:off x="3200400" y="2048256"/>
            <a:ext cx="2697480" cy="475488"/>
          </a:xfrm>
          <a:prstGeom prst="rect">
            <a:avLst/>
          </a:prstGeom>
          <a:solidFill>
            <a:srgbClr val="1B7A7A"/>
          </a:solidFill>
          <a:ln>
            <a:solidFill>
              <a:srgbClr val="1B7A7A"/>
            </a:solidFill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695FEA8-977A-5E23-F308-5EC0D5A1A29F}"/>
              </a:ext>
            </a:extLst>
          </p:cNvPr>
          <p:cNvSpPr/>
          <p:nvPr/>
        </p:nvSpPr>
        <p:spPr>
          <a:xfrm>
            <a:off x="3200400" y="204825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FileHandler</a:t>
            </a:r>
            <a:endParaRPr lang="en-US" sz="15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D5921B7-3E45-036B-3157-7B2443B6D96A}"/>
              </a:ext>
            </a:extLst>
          </p:cNvPr>
          <p:cNvSpPr/>
          <p:nvPr/>
        </p:nvSpPr>
        <p:spPr>
          <a:xfrm>
            <a:off x="3200400" y="2523744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6CDB543-5076-0AE2-FAE3-E9797370CE0E}"/>
              </a:ext>
            </a:extLst>
          </p:cNvPr>
          <p:cNvSpPr/>
          <p:nvPr/>
        </p:nvSpPr>
        <p:spPr>
          <a:xfrm>
            <a:off x="3337560" y="2660904"/>
            <a:ext cx="182880" cy="18288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2AA8A24-FA4B-7AB5-EC71-23A9E75D233C}"/>
              </a:ext>
            </a:extLst>
          </p:cNvPr>
          <p:cNvSpPr/>
          <p:nvPr/>
        </p:nvSpPr>
        <p:spPr>
          <a:xfrm>
            <a:off x="3602736" y="26243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Kreira TAR arhivu ulaznih fajlova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2DC1554-BFDB-997F-AD93-4C1AB3618CC6}"/>
              </a:ext>
            </a:extLst>
          </p:cNvPr>
          <p:cNvSpPr/>
          <p:nvPr/>
        </p:nvSpPr>
        <p:spPr>
          <a:xfrm>
            <a:off x="3337560" y="3136392"/>
            <a:ext cx="182880" cy="18288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B8C28F7-31B6-C3CA-518A-FC387D9A77D4}"/>
              </a:ext>
            </a:extLst>
          </p:cNvPr>
          <p:cNvSpPr/>
          <p:nvPr/>
        </p:nvSpPr>
        <p:spPr>
          <a:xfrm>
            <a:off x="3602736" y="309981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 kompresija podataka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0344AE9-9295-BD1C-5189-02036D9BA762}"/>
              </a:ext>
            </a:extLst>
          </p:cNvPr>
          <p:cNvSpPr/>
          <p:nvPr/>
        </p:nvSpPr>
        <p:spPr>
          <a:xfrm>
            <a:off x="3337560" y="3611880"/>
            <a:ext cx="182880" cy="18288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2DAE011-E5AB-79D6-9051-AAB0A91A1887}"/>
              </a:ext>
            </a:extLst>
          </p:cNvPr>
          <p:cNvSpPr/>
          <p:nvPr/>
        </p:nvSpPr>
        <p:spPr>
          <a:xfrm>
            <a:off x="3602736" y="357530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 sadržaj na sektore</a:t>
            </a:r>
            <a:endParaRPr lang="en-US" sz="11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21FED06-C417-037E-6733-3E970AD8BF61}"/>
              </a:ext>
            </a:extLst>
          </p:cNvPr>
          <p:cNvSpPr/>
          <p:nvPr/>
        </p:nvSpPr>
        <p:spPr>
          <a:xfrm>
            <a:off x="3337560" y="4087368"/>
            <a:ext cx="182880" cy="18288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0EE54AB-1DDC-85F6-0F65-88C55486DBD2}"/>
              </a:ext>
            </a:extLst>
          </p:cNvPr>
          <p:cNvSpPr/>
          <p:nvPr/>
        </p:nvSpPr>
        <p:spPr>
          <a:xfrm>
            <a:off x="3602736" y="405079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 dekompresija + raspakivanje</a:t>
            </a:r>
            <a:endParaRPr lang="en-US" sz="11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18D0379-DE1E-5049-74C5-7CBD9B1BB5E1}"/>
              </a:ext>
            </a:extLst>
          </p:cNvPr>
          <p:cNvSpPr/>
          <p:nvPr/>
        </p:nvSpPr>
        <p:spPr>
          <a:xfrm>
            <a:off x="6080760" y="2048256"/>
            <a:ext cx="2697480" cy="475488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3B41DE0-9EB8-8D02-1150-C6BFCF91B5AD}"/>
              </a:ext>
            </a:extLst>
          </p:cNvPr>
          <p:cNvSpPr/>
          <p:nvPr/>
        </p:nvSpPr>
        <p:spPr>
          <a:xfrm>
            <a:off x="6080760" y="204825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StorageManager</a:t>
            </a:r>
            <a:endParaRPr lang="en-US" sz="15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081BFFE-3DF8-42D3-7244-647773F57B68}"/>
              </a:ext>
            </a:extLst>
          </p:cNvPr>
          <p:cNvSpPr/>
          <p:nvPr/>
        </p:nvSpPr>
        <p:spPr>
          <a:xfrm>
            <a:off x="6080760" y="2523744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60A4076-A4F8-283E-4C52-837DD67C0C47}"/>
              </a:ext>
            </a:extLst>
          </p:cNvPr>
          <p:cNvSpPr/>
          <p:nvPr/>
        </p:nvSpPr>
        <p:spPr>
          <a:xfrm>
            <a:off x="6217920" y="2660904"/>
            <a:ext cx="182880" cy="18288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713D6FB-7FE9-C9C4-12F5-982E7E7DA1A0}"/>
              </a:ext>
            </a:extLst>
          </p:cNvPr>
          <p:cNvSpPr/>
          <p:nvPr/>
        </p:nvSpPr>
        <p:spPr>
          <a:xfrm>
            <a:off x="6483096" y="26243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Alocira slobodne slack sektore</a:t>
            </a:r>
            <a:endParaRPr lang="en-US" sz="11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BDC88AD-13AA-B5EE-66C4-F14D20030F9C}"/>
              </a:ext>
            </a:extLst>
          </p:cNvPr>
          <p:cNvSpPr/>
          <p:nvPr/>
        </p:nvSpPr>
        <p:spPr>
          <a:xfrm>
            <a:off x="6217920" y="3136392"/>
            <a:ext cx="182880" cy="18288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9068C3D-4FDA-F03C-06CB-09712EC662BA}"/>
              </a:ext>
            </a:extLst>
          </p:cNvPr>
          <p:cNvSpPr/>
          <p:nvPr/>
        </p:nvSpPr>
        <p:spPr>
          <a:xfrm>
            <a:off x="6483096" y="309981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Direktan upis/čitanje (seek + write)</a:t>
            </a:r>
            <a:endParaRPr lang="en-US" sz="11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9B7E8DE-98DE-B027-6AEF-370646DC7740}"/>
              </a:ext>
            </a:extLst>
          </p:cNvPr>
          <p:cNvSpPr/>
          <p:nvPr/>
        </p:nvSpPr>
        <p:spPr>
          <a:xfrm>
            <a:off x="6217920" y="3611880"/>
            <a:ext cx="182880" cy="18288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E1BF4C1-662F-743C-4500-C3A64A36EE2A}"/>
              </a:ext>
            </a:extLst>
          </p:cNvPr>
          <p:cNvSpPr/>
          <p:nvPr/>
        </p:nvSpPr>
        <p:spPr>
          <a:xfrm>
            <a:off x="6483096" y="357530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Brisanje prepisivanjem nulama</a:t>
            </a:r>
            <a:endParaRPr lang="en-US" sz="11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5F1019C-C5B6-D148-049A-E826B7E32987}"/>
              </a:ext>
            </a:extLst>
          </p:cNvPr>
          <p:cNvSpPr/>
          <p:nvPr/>
        </p:nvSpPr>
        <p:spPr>
          <a:xfrm>
            <a:off x="6217920" y="4087368"/>
            <a:ext cx="182880" cy="18288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06F8A02-AFF6-A111-859C-1E3F4B340103}"/>
              </a:ext>
            </a:extLst>
          </p:cNvPr>
          <p:cNvSpPr/>
          <p:nvPr/>
        </p:nvSpPr>
        <p:spPr>
          <a:xfrm>
            <a:off x="6483096" y="405079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Vodi i čuva SAT tabelu (JSON)</a:t>
            </a:r>
            <a:endParaRPr lang="en-US" sz="1100" dirty="0"/>
          </a:p>
        </p:txBody>
      </p:sp>
      <p:sp>
        <p:nvSpPr>
          <p:cNvPr id="54" name="Shape 0">
            <a:extLst>
              <a:ext uri="{FF2B5EF4-FFF2-40B4-BE49-F238E27FC236}">
                <a16:creationId xmlns:a16="http://schemas.microsoft.com/office/drawing/2014/main" id="{5C079855-C195-C3DD-C237-DA5E733ACC80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B8B39689-04DE-0942-FA7E-4697067CA4C6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58" name="Text 2">
            <a:extLst>
              <a:ext uri="{FF2B5EF4-FFF2-40B4-BE49-F238E27FC236}">
                <a16:creationId xmlns:a16="http://schemas.microsoft.com/office/drawing/2014/main" id="{D82102B2-74EC-C2ED-BE04-AB86F56E5473}"/>
              </a:ext>
            </a:extLst>
          </p:cNvPr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 sistema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506308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EAEDC-458E-14C2-7C80-C951C88E5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>
            <a:extLst>
              <a:ext uri="{FF2B5EF4-FFF2-40B4-BE49-F238E27FC236}">
                <a16:creationId xmlns:a16="http://schemas.microsoft.com/office/drawing/2014/main" id="{FF93FF7D-3C35-F8B6-5671-C94D1A0025FA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90FD77E-A535-D9FF-6345-AFE5C63519FE}"/>
              </a:ext>
            </a:extLst>
          </p:cNvPr>
          <p:cNvSpPr/>
          <p:nvPr/>
        </p:nvSpPr>
        <p:spPr>
          <a:xfrm>
            <a:off x="320040" y="2946400"/>
            <a:ext cx="8503920" cy="1628984"/>
          </a:xfrm>
          <a:prstGeom prst="rect">
            <a:avLst/>
          </a:prstGeom>
          <a:solidFill>
            <a:srgbClr val="1A2B3C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CDD85E5-33D7-277A-57B8-7CB5EE791618}"/>
              </a:ext>
            </a:extLst>
          </p:cNvPr>
          <p:cNvSpPr/>
          <p:nvPr/>
        </p:nvSpPr>
        <p:spPr>
          <a:xfrm>
            <a:off x="502920" y="287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AA90443-199E-7811-71B7-B4FA0EF9FF4A}"/>
              </a:ext>
            </a:extLst>
          </p:cNvPr>
          <p:cNvSpPr/>
          <p:nvPr/>
        </p:nvSpPr>
        <p:spPr>
          <a:xfrm>
            <a:off x="502920" y="3459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analyze_file_for_slack_space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file_path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</a:p>
          <a:p>
            <a:pPr lvl="1"/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stat_info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os.stat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file_path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lvl="1"/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file_size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stat_info.st_size</a:t>
            </a:r>
            <a:endParaRPr lang="en-US" sz="115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/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inode_number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stat_info.st_ino</a:t>
            </a:r>
            <a:endParaRPr lang="en-US" sz="115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2ADE710A-00CB-6288-7CCB-A3AF903A565E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1DA80383-4887-4966-F637-8EF59F1FF2E3}"/>
              </a:ext>
            </a:extLst>
          </p:cNvPr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 err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Pronalaženje</a:t>
            </a:r>
            <a:r>
              <a:rPr lang="en-U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</a:t>
            </a: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700" i="1" dirty="0" err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rostora</a:t>
            </a:r>
            <a:endParaRPr lang="en-US" sz="1700" i="1" dirty="0">
              <a:solidFill>
                <a:srgbClr val="00D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5A2EDF0D-CBBA-DCAF-FFD4-FAAA8416CCD1}"/>
              </a:ext>
            </a:extLst>
          </p:cNvPr>
          <p:cNvSpPr/>
          <p:nvPr/>
        </p:nvSpPr>
        <p:spPr>
          <a:xfrm>
            <a:off x="384048" y="1356456"/>
            <a:ext cx="8229600" cy="2125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Pronalazak svih fajlova na ciljnoj particiji  omogućen je metodom 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discover_all_files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koja koristi 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os.walk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Nakon pronalaska svih fajlova poziva se metoda 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map_all_slack_space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koja za svaki fajl poziva funkciju 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analyze_file_for_slack_space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(), čiji je zadatak određivanje raspoloživog 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prostora.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Vrši se </a:t>
            </a:r>
            <a:r>
              <a:rPr lang="sr-Latn-R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ibavljanje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osnovnih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metapodataka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korišćenjem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os.stat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(). Na taj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način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dobijaju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veličina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 koji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predstavlja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jedinstveni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identifikator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unutar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ext4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0" indent="0" algn="just">
              <a:buNone/>
            </a:pP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812763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297A2-733A-50A6-FE70-79A34E321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>
            <a:extLst>
              <a:ext uri="{FF2B5EF4-FFF2-40B4-BE49-F238E27FC236}">
                <a16:creationId xmlns:a16="http://schemas.microsoft.com/office/drawing/2014/main" id="{E69DBC63-F017-A0B3-90C5-D7C90BFAB4E6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ED0D09E-2872-ED67-B5C6-4144FA5D86E6}"/>
              </a:ext>
            </a:extLst>
          </p:cNvPr>
          <p:cNvSpPr/>
          <p:nvPr/>
        </p:nvSpPr>
        <p:spPr>
          <a:xfrm>
            <a:off x="320040" y="2946400"/>
            <a:ext cx="8503920" cy="1628984"/>
          </a:xfrm>
          <a:prstGeom prst="rect">
            <a:avLst/>
          </a:prstGeom>
          <a:solidFill>
            <a:srgbClr val="1A2B3C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B6B0246-AFDD-2616-96A0-11794585F078}"/>
              </a:ext>
            </a:extLst>
          </p:cNvPr>
          <p:cNvSpPr/>
          <p:nvPr/>
        </p:nvSpPr>
        <p:spPr>
          <a:xfrm>
            <a:off x="502920" y="287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889674F-854F-007F-70B9-C66525DB10F2}"/>
              </a:ext>
            </a:extLst>
          </p:cNvPr>
          <p:cNvSpPr/>
          <p:nvPr/>
        </p:nvSpPr>
        <p:spPr>
          <a:xfrm>
            <a:off x="502920" y="3459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analyze_file_for_slack_space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file_path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sr-Latn-RS" sz="115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sr-Latn-R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</a:p>
          <a:p>
            <a:pPr lvl="1"/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['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debugfs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', '-R',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f'stat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&lt;{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inode_number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}&gt;',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self.device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</a:p>
          <a:p>
            <a:pPr lvl="1"/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subprocess.run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capture_output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=True, text=True)</a:t>
            </a:r>
          </a:p>
          <a:p>
            <a:pPr lvl="1"/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extent_info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self._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parse_extents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result.stdout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buNone/>
            </a:pPr>
            <a:r>
              <a:rPr lang="sr-Latn-R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394086B3-392D-9B2E-0BA3-1DCC0ED87150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B0267D5C-B075-A9E6-C461-F3D8DCD380BF}"/>
              </a:ext>
            </a:extLst>
          </p:cNvPr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 err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Pronalaženje</a:t>
            </a:r>
            <a:r>
              <a:rPr lang="en-U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</a:t>
            </a: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700" i="1" dirty="0" err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rostora</a:t>
            </a:r>
            <a:endParaRPr lang="en-US" sz="1700" i="1" dirty="0">
              <a:solidFill>
                <a:srgbClr val="00D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3450EEBB-4939-E89C-0FA7-24E3A4F37A9A}"/>
              </a:ext>
            </a:extLst>
          </p:cNvPr>
          <p:cNvSpPr/>
          <p:nvPr/>
        </p:nvSpPr>
        <p:spPr>
          <a:xfrm>
            <a:off x="384048" y="1356456"/>
            <a:ext cx="8229600" cy="2125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Dobijeni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za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pristup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informacijama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fizičkoj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organizaciji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pomoću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debugfs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Analizom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extent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koji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dobija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izvršavanjem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komande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moguće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odrediti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fizičku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lokaciju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poslednjeg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koji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pripada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određenom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83981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3E8BC-57A9-3E31-5D19-4ECEA0F27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>
            <a:extLst>
              <a:ext uri="{FF2B5EF4-FFF2-40B4-BE49-F238E27FC236}">
                <a16:creationId xmlns:a16="http://schemas.microsoft.com/office/drawing/2014/main" id="{929CA36C-345C-E116-A92A-C2A999C01EA1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75E3C86-5B5F-B61E-F0A0-2338DBA9620B}"/>
              </a:ext>
            </a:extLst>
          </p:cNvPr>
          <p:cNvSpPr/>
          <p:nvPr/>
        </p:nvSpPr>
        <p:spPr>
          <a:xfrm>
            <a:off x="320040" y="2703786"/>
            <a:ext cx="8503920" cy="2368594"/>
          </a:xfrm>
          <a:prstGeom prst="rect">
            <a:avLst/>
          </a:prstGeom>
          <a:solidFill>
            <a:srgbClr val="1A2B3C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D1DC3DE-F196-314D-A2D1-2A35F821BD36}"/>
              </a:ext>
            </a:extLst>
          </p:cNvPr>
          <p:cNvSpPr/>
          <p:nvPr/>
        </p:nvSpPr>
        <p:spPr>
          <a:xfrm>
            <a:off x="502920" y="287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C618112-9F74-B5B3-F262-7D8072D6B4D0}"/>
              </a:ext>
            </a:extLst>
          </p:cNvPr>
          <p:cNvSpPr/>
          <p:nvPr/>
        </p:nvSpPr>
        <p:spPr>
          <a:xfrm>
            <a:off x="502920" y="377814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analyze_file_for_slack_space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file_path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pPr marL="0" indent="0">
              <a:buNone/>
            </a:pPr>
            <a:r>
              <a:rPr lang="sr-Latn-R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</a:p>
          <a:p>
            <a:pPr lvl="1"/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converting blocks to byte offsets</a:t>
            </a:r>
          </a:p>
          <a:p>
            <a:pPr lvl="1"/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extent_start_bytes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extent_start_block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self.block_size</a:t>
            </a:r>
            <a:endParaRPr lang="en-US" sz="115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/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extent_end_bytes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extent_end_block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+ 1) *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self.block_size</a:t>
            </a:r>
            <a:endParaRPr lang="en-US" sz="115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/>
            <a:endParaRPr lang="en-US" sz="115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/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actual ending of a file</a:t>
            </a:r>
          </a:p>
          <a:p>
            <a:pPr lvl="1"/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file_end_bytes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extent_start_bytes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file_size</a:t>
            </a:r>
            <a:endParaRPr lang="en-US" sz="115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/>
            <a:endParaRPr lang="en-US" sz="115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/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slack_start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file_end_bytes</a:t>
            </a:r>
            <a:endParaRPr lang="en-US" sz="115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/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slack_end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extent_end_bytes</a:t>
            </a:r>
            <a:endParaRPr lang="en-US" sz="115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lvl="1"/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slack_size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slack_end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slack_start</a:t>
            </a:r>
            <a:endParaRPr lang="en-US" sz="115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sr-Latn-R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A662730F-B725-D931-C59E-6A73F203E3AA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C6D2D25F-02D8-ED42-F38D-80A1B9E2ED3D}"/>
              </a:ext>
            </a:extLst>
          </p:cNvPr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 err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Pronalaženje</a:t>
            </a:r>
            <a:r>
              <a:rPr lang="en-U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</a:t>
            </a: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700" i="1" dirty="0" err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rostora</a:t>
            </a:r>
            <a:endParaRPr lang="en-US" sz="1700" i="1" dirty="0">
              <a:solidFill>
                <a:srgbClr val="00D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9C26FAAD-2A4A-7EA1-1288-EE8E11859106}"/>
              </a:ext>
            </a:extLst>
          </p:cNvPr>
          <p:cNvSpPr/>
          <p:nvPr/>
        </p:nvSpPr>
        <p:spPr>
          <a:xfrm>
            <a:off x="384048" y="1033260"/>
            <a:ext cx="8229600" cy="2125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Dobijeni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izlaz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zatim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obrađuje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parse_extents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().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obrade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izdvajaju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fizičke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blokova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pripadaju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Pošto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slack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prostor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nalazi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kraju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poslednjeg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alociranog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za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poslednji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pronađeni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extent.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Nakon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određivanja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početnog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završnog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vrši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konverzija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blokova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bajt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Na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lokacije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poslednjeg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izračunava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stvarni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kraj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količina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neiskorišćenog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prostora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unutar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tog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Ovaj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prostor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predstavlja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slack space koji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može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iskorišćen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skladištenje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skrivenih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706547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BDC9F7-257B-8CC3-DF3A-8A9624467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>
            <a:extLst>
              <a:ext uri="{FF2B5EF4-FFF2-40B4-BE49-F238E27FC236}">
                <a16:creationId xmlns:a16="http://schemas.microsoft.com/office/drawing/2014/main" id="{115A8157-75C5-BBCC-1004-974A38926B71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C09F338-15F7-54AE-300A-2C124B92EEA8}"/>
              </a:ext>
            </a:extLst>
          </p:cNvPr>
          <p:cNvSpPr/>
          <p:nvPr/>
        </p:nvSpPr>
        <p:spPr>
          <a:xfrm>
            <a:off x="320040" y="2364828"/>
            <a:ext cx="8503920" cy="2707552"/>
          </a:xfrm>
          <a:prstGeom prst="rect">
            <a:avLst/>
          </a:prstGeom>
          <a:solidFill>
            <a:srgbClr val="1A2B3C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D8B6FCB-4A14-9ACC-157F-F27B865E5C68}"/>
              </a:ext>
            </a:extLst>
          </p:cNvPr>
          <p:cNvSpPr/>
          <p:nvPr/>
        </p:nvSpPr>
        <p:spPr>
          <a:xfrm>
            <a:off x="502920" y="287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D6A342C-D36A-EC98-BD61-E45D884D7D4A}"/>
              </a:ext>
            </a:extLst>
          </p:cNvPr>
          <p:cNvSpPr/>
          <p:nvPr/>
        </p:nvSpPr>
        <p:spPr>
          <a:xfrm>
            <a:off x="502920" y="351801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convert_ranges_to_sectors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(self):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#converting slack space byte ranges to sector offsets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print("[Drive handler info]: Converting byte ranges to sector offsets...")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slack_info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self.slack_space_info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slack_start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slack_info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slack_start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']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slack_end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slack_info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slack_end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']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sector_offset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 range(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slack_start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slack_end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self.sector_size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sector_offset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slack_end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self.available_slack_locations.append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sector_offset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	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self.available_slack_locations.sort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print(f"[Drive handler info]: Mapped {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self.available_slack_locations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       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available sectors")</a:t>
            </a:r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BEE2327F-207A-9863-F10F-1B6E8BDDA214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9D9F2687-DC62-D794-AC4D-427F326CE45C}"/>
              </a:ext>
            </a:extLst>
          </p:cNvPr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 err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Pronalaženje</a:t>
            </a:r>
            <a:r>
              <a:rPr lang="en-U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</a:t>
            </a: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700" i="1" dirty="0" err="1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rostora</a:t>
            </a:r>
            <a:endParaRPr lang="en-US" sz="1700" i="1" dirty="0">
              <a:solidFill>
                <a:srgbClr val="00D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007EF13B-D126-0E75-E4CC-491319FF27C2}"/>
              </a:ext>
            </a:extLst>
          </p:cNvPr>
          <p:cNvSpPr/>
          <p:nvPr/>
        </p:nvSpPr>
        <p:spPr>
          <a:xfrm>
            <a:off x="384048" y="788890"/>
            <a:ext cx="8229600" cy="2125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250" dirty="0">
              <a:solidFill>
                <a:srgbClr val="E8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Dobijeni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opsezi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slack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prostora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zatim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prevode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fizičkih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veličine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jednog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koji je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podrazumevano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512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bajta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sr-Latn-R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convert_ranges_to_sectors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().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Početna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svakog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slack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raspoloživih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lokacija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skladištenje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available_slack_locations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6434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3E215-0CDF-9141-7493-D1DA5295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377BC2F9-F9D6-85EB-915B-C8C6BE57F00D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1F832496-ED78-A28B-78BF-7BCEA663EDCC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3548FFF3-8EF3-054C-0B51-B7AB195368E2}"/>
              </a:ext>
            </a:extLst>
          </p:cNvPr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 podataka</a:t>
            </a:r>
            <a:endParaRPr lang="en-US" sz="1700" i="1" dirty="0">
              <a:solidFill>
                <a:srgbClr val="00D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9768BCF2-9BED-0F3A-2310-4A4FE6E98577}"/>
              </a:ext>
            </a:extLst>
          </p:cNvPr>
          <p:cNvSpPr/>
          <p:nvPr/>
        </p:nvSpPr>
        <p:spPr>
          <a:xfrm>
            <a:off x="457200" y="1357648"/>
            <a:ext cx="8412480" cy="3602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 skrivanja podataka sastoji se iz nekoliko faza: pripreme podataka, određivanja potrebnog prostora za upis i fizičkog upisa u </a:t>
            </a:r>
            <a:r>
              <a:rPr lang="sr-Latn-R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prostor.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Nakon pronalaženja raspoloživih sektora u </a:t>
            </a:r>
            <a:r>
              <a:rPr lang="sr-Latn-R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prostoru, sledeći korak predstavlja priprema podataka za skladištenje. Ovaj deo funkcionalnosti implementiran je u okviru klase </a:t>
            </a:r>
            <a:r>
              <a:rPr lang="sr-Latn-R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FileHandler</a:t>
            </a:r>
            <a:r>
              <a:rPr lang="sr-Latn-R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čiji je zadatak da ulazne fajlove pripremi za upis u prethodno </a:t>
            </a:r>
            <a:r>
              <a:rPr lang="sr-Latn-R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mapirane</a:t>
            </a:r>
            <a:r>
              <a:rPr lang="sr-Latn-R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sektore.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r-Latn-R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Korisnik kao ulaz može proslediti pojedinačne fajlove ili listu fajlova koje želi da sakrije. Svaki ulaz se najpre objedinjuje u TAR arhivu, nakon čega se vrši GZIP kompresija kako bi se smanjila količina prostora potrebna za skladištenje. Ovo je omogućeno funkcijom </a:t>
            </a:r>
            <a:r>
              <a:rPr lang="sr-Latn-R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create_tar_archive</a:t>
            </a:r>
            <a:r>
              <a:rPr lang="sr-Latn-R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sr-Latn-R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files_to_hide</a:t>
            </a:r>
            <a:r>
              <a:rPr lang="sr-Latn-R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funkcije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split_into_chunks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compressed_blob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dobijeni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kompresovani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sadržaj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koji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predstavlja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binarne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podatke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deli se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veličine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jednog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slack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sektora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Ukoliko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poslednji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segment ne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popunjava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vrši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dopunjavanje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nulama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imali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jednaku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veličinu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Funkcija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vraća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listu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segmenata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kao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segmenata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koje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potrebno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upisati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slack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prostor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Informacija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stvarnoj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veličini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kompresovanog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sadržaja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čuva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u SAT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tabeli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tokom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rekonstrukcije</a:t>
            </a: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sr-Latn-RS" sz="125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4352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4EB0AF-1A79-16FF-DCD4-F5CA89E2A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>
            <a:extLst>
              <a:ext uri="{FF2B5EF4-FFF2-40B4-BE49-F238E27FC236}">
                <a16:creationId xmlns:a16="http://schemas.microsoft.com/office/drawing/2014/main" id="{510AD937-2333-EB60-6467-31160D9D962B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5389DA2-5BA0-18A5-2F80-245D1064F084}"/>
              </a:ext>
            </a:extLst>
          </p:cNvPr>
          <p:cNvSpPr/>
          <p:nvPr/>
        </p:nvSpPr>
        <p:spPr>
          <a:xfrm>
            <a:off x="320040" y="1729406"/>
            <a:ext cx="8503920" cy="3160645"/>
          </a:xfrm>
          <a:prstGeom prst="rect">
            <a:avLst/>
          </a:prstGeom>
          <a:solidFill>
            <a:srgbClr val="1A2B3C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4295D18-47C7-DDBA-224D-3382A1395595}"/>
              </a:ext>
            </a:extLst>
          </p:cNvPr>
          <p:cNvSpPr/>
          <p:nvPr/>
        </p:nvSpPr>
        <p:spPr>
          <a:xfrm>
            <a:off x="502920" y="2482003"/>
            <a:ext cx="8229600" cy="29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F7DF606-BAEF-364A-3CA0-071D773733A2}"/>
              </a:ext>
            </a:extLst>
          </p:cNvPr>
          <p:cNvSpPr/>
          <p:nvPr/>
        </p:nvSpPr>
        <p:spPr>
          <a:xfrm>
            <a:off x="502920" y="3125413"/>
            <a:ext cx="8229600" cy="29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split_into_chunks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compressed_blob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print(f"[File handler info]: Splitting blob into {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self.sector_size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}-byte  </a:t>
            </a:r>
          </a:p>
          <a:p>
            <a:pPr marL="0" indent="0">
              <a:buNone/>
            </a:pPr>
            <a:r>
              <a:rPr lang="sr-Latn-R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chunks...")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chunks = []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Split blob into slack sector-sized pieces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 range(0,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compressed_blob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self.sector_size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chunk =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compressed_blob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i:i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self.sector_size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If the last chunk is smaller than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sector_size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pad it with zeros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(chunk) &lt;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self.sector_size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chunk = chunk + b'\x00' * (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self.sector_size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(chunk))</a:t>
            </a:r>
          </a:p>
          <a:p>
            <a:pPr marL="0" indent="0">
              <a:buNone/>
            </a:pPr>
            <a:endParaRPr lang="en-US" sz="115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chunks.append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(chunk)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print(f"[File handler info]: Created </a:t>
            </a:r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878C38A9-74A7-E4B8-1E25-02BCF975E177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3F029397-1CCF-913B-B2F7-237A2C2C98AD}"/>
              </a:ext>
            </a:extLst>
          </p:cNvPr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 podataka</a:t>
            </a:r>
            <a:endParaRPr lang="en-US" sz="1700" i="1" dirty="0">
              <a:solidFill>
                <a:srgbClr val="00D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1640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EFC58B-3450-28DC-DBB0-4E35A1B0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>
            <a:extLst>
              <a:ext uri="{FF2B5EF4-FFF2-40B4-BE49-F238E27FC236}">
                <a16:creationId xmlns:a16="http://schemas.microsoft.com/office/drawing/2014/main" id="{7AA91819-751B-DB85-3467-B95EB1770107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5513BF9-9449-7849-C3B1-3076E4D0D9D9}"/>
              </a:ext>
            </a:extLst>
          </p:cNvPr>
          <p:cNvSpPr/>
          <p:nvPr/>
        </p:nvSpPr>
        <p:spPr>
          <a:xfrm>
            <a:off x="502920" y="287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FCABA9E7-7A1B-9697-6E63-7BA36F140DC5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12207089-03B4-1DB1-4A32-553EB7830E76}"/>
              </a:ext>
            </a:extLst>
          </p:cNvPr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 podataka</a:t>
            </a:r>
            <a:endParaRPr lang="en-US" sz="1700" i="1" dirty="0">
              <a:solidFill>
                <a:srgbClr val="00D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73C98C69-ACAB-2B69-6B97-A03D6A442499}"/>
              </a:ext>
            </a:extLst>
          </p:cNvPr>
          <p:cNvSpPr/>
          <p:nvPr/>
        </p:nvSpPr>
        <p:spPr>
          <a:xfrm>
            <a:off x="384048" y="1285847"/>
            <a:ext cx="8229600" cy="2125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Nakon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pripreme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poziva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write_to_slack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StorageManager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određuje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potrebnih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pronalazi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dovoljan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slobodnih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lokacija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prethodno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formiranoj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slack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prostora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94868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9F6AC-906C-9BE9-BFDD-6E27ABD0D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>
            <a:extLst>
              <a:ext uri="{FF2B5EF4-FFF2-40B4-BE49-F238E27FC236}">
                <a16:creationId xmlns:a16="http://schemas.microsoft.com/office/drawing/2014/main" id="{A0B409BB-CE36-5EA1-6B20-3CBC8EC9549B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C8670FA-5E72-89AA-1D62-44A9C0FFCFFF}"/>
              </a:ext>
            </a:extLst>
          </p:cNvPr>
          <p:cNvSpPr/>
          <p:nvPr/>
        </p:nvSpPr>
        <p:spPr>
          <a:xfrm>
            <a:off x="320040" y="1446144"/>
            <a:ext cx="8503920" cy="3697356"/>
          </a:xfrm>
          <a:prstGeom prst="rect">
            <a:avLst/>
          </a:prstGeom>
          <a:solidFill>
            <a:srgbClr val="1A2B3C"/>
          </a:solidFill>
          <a:ln w="12700">
            <a:solidFill>
              <a:srgbClr val="1B7A7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72E6E4C-C43A-383A-84FF-71564A04AAEF}"/>
              </a:ext>
            </a:extLst>
          </p:cNvPr>
          <p:cNvSpPr/>
          <p:nvPr/>
        </p:nvSpPr>
        <p:spPr>
          <a:xfrm>
            <a:off x="502920" y="2482003"/>
            <a:ext cx="8229600" cy="29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10DA4F4-CFF4-50B3-029A-9C74599B2BE9}"/>
              </a:ext>
            </a:extLst>
          </p:cNvPr>
          <p:cNvSpPr/>
          <p:nvPr/>
        </p:nvSpPr>
        <p:spPr>
          <a:xfrm>
            <a:off x="502920" y="3170457"/>
            <a:ext cx="8229600" cy="29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write_to_slack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blob_id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blob_chunks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sectors_needed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original_size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free_sectors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[s for s in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self.available_slack_sectors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 s not in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sr-Latn-R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self.used_sectors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print("Free sectors",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free_sectors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[0:7])</a:t>
            </a:r>
          </a:p>
          <a:p>
            <a:pPr marL="0" indent="0">
              <a:buNone/>
            </a:pPr>
            <a:endParaRPr lang="en-US" sz="115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free_sectors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&lt;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sectors_needed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print(f"[Storage manager info]: Not enough slack space. Need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sectors_needed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have {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free_sectors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)}")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None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allocated_sectors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free_sectors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sectors_needed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Aloccated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sectors: ",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allocated_sectors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first_sector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allocated_sectors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last_sector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allocated_sectors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[-1]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 # write chunks to disk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self._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write_to_device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blob_chunks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allocated_sectors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Exception as e: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print(f"[Storage manager error]: Error writing to device: {e}")</a:t>
            </a:r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A3F722AD-292E-F9AD-766F-6A050ED20719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47655B86-9D62-5B3A-47B5-8C7165A10010}"/>
              </a:ext>
            </a:extLst>
          </p:cNvPr>
          <p:cNvSpPr/>
          <p:nvPr/>
        </p:nvSpPr>
        <p:spPr>
          <a:xfrm>
            <a:off x="457200" y="107980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 podataka</a:t>
            </a:r>
            <a:endParaRPr lang="en-US" sz="1700" i="1" dirty="0">
              <a:solidFill>
                <a:srgbClr val="00D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5591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3000A-02A3-EA13-714F-E2E4FAA9C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>
            <a:extLst>
              <a:ext uri="{FF2B5EF4-FFF2-40B4-BE49-F238E27FC236}">
                <a16:creationId xmlns:a16="http://schemas.microsoft.com/office/drawing/2014/main" id="{42080600-76E8-148A-265A-48F2445EA31E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A90C677-812D-EA8E-F3C1-674F2A10C8AD}"/>
              </a:ext>
            </a:extLst>
          </p:cNvPr>
          <p:cNvSpPr/>
          <p:nvPr/>
        </p:nvSpPr>
        <p:spPr>
          <a:xfrm>
            <a:off x="502920" y="287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53DC02BA-EB75-C247-83D9-89A3F1B58DF1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8BAFE838-F61A-5147-DC74-F87BC58F4CAF}"/>
              </a:ext>
            </a:extLst>
          </p:cNvPr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 podataka</a:t>
            </a:r>
            <a:endParaRPr lang="en-US" sz="1700" i="1" dirty="0">
              <a:solidFill>
                <a:srgbClr val="00D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2B438CA2-4142-D07D-5354-12176A73080F}"/>
              </a:ext>
            </a:extLst>
          </p:cNvPr>
          <p:cNvSpPr/>
          <p:nvPr/>
        </p:nvSpPr>
        <p:spPr>
          <a:xfrm>
            <a:off x="384048" y="900090"/>
            <a:ext cx="8229600" cy="2125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Ukoliko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postoji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dovoljan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slobodnih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podaci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direktno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upisuju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uređaj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korišćenjem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seek()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write() u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write_to_device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().</a:t>
            </a:r>
          </a:p>
        </p:txBody>
      </p:sp>
      <p:sp>
        <p:nvSpPr>
          <p:cNvPr id="3" name="Shape 24">
            <a:extLst>
              <a:ext uri="{FF2B5EF4-FFF2-40B4-BE49-F238E27FC236}">
                <a16:creationId xmlns:a16="http://schemas.microsoft.com/office/drawing/2014/main" id="{6730C7A9-CAD3-8DBD-7E0B-565C67F41446}"/>
              </a:ext>
            </a:extLst>
          </p:cNvPr>
          <p:cNvSpPr/>
          <p:nvPr/>
        </p:nvSpPr>
        <p:spPr>
          <a:xfrm>
            <a:off x="320040" y="2355850"/>
            <a:ext cx="8503920" cy="2534201"/>
          </a:xfrm>
          <a:prstGeom prst="rect">
            <a:avLst/>
          </a:prstGeom>
          <a:solidFill>
            <a:srgbClr val="1A2B3C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5" name="Text 28">
            <a:extLst>
              <a:ext uri="{FF2B5EF4-FFF2-40B4-BE49-F238E27FC236}">
                <a16:creationId xmlns:a16="http://schemas.microsoft.com/office/drawing/2014/main" id="{D36B5FC4-5CE9-65FC-C1FA-8BC52E9603F2}"/>
              </a:ext>
            </a:extLst>
          </p:cNvPr>
          <p:cNvSpPr/>
          <p:nvPr/>
        </p:nvSpPr>
        <p:spPr>
          <a:xfrm>
            <a:off x="502920" y="2540247"/>
            <a:ext cx="8229600" cy="235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7" name="Text 30">
            <a:extLst>
              <a:ext uri="{FF2B5EF4-FFF2-40B4-BE49-F238E27FC236}">
                <a16:creationId xmlns:a16="http://schemas.microsoft.com/office/drawing/2014/main" id="{BAD68AC4-F928-B775-3134-924196BE89F8}"/>
              </a:ext>
            </a:extLst>
          </p:cNvPr>
          <p:cNvSpPr/>
          <p:nvPr/>
        </p:nvSpPr>
        <p:spPr>
          <a:xfrm>
            <a:off x="502920" y="3377607"/>
            <a:ext cx="8229600" cy="235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write_to_device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chunks, sectors):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with open(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self.device_path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'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r+b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') as device: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for chunk,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sector_offset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 zip(chunks, sectors):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device.seek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sector_offset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device.write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(chunk)</a:t>
            </a:r>
          </a:p>
          <a:p>
            <a:pPr marL="0" indent="0">
              <a:buNone/>
            </a:pPr>
            <a:endParaRPr lang="en-US" sz="115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print(f"[Storage manager info]: Successfully wrote {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(chunks)}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	      sectors")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Exception as e: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print(f"[Storage manager error]: Error writing to device: {e}")</a:t>
            </a:r>
          </a:p>
        </p:txBody>
      </p:sp>
    </p:spTree>
    <p:extLst>
      <p:ext uri="{BB962C8B-B14F-4D97-AF65-F5344CB8AC3E}">
        <p14:creationId xmlns:p14="http://schemas.microsoft.com/office/powerpoint/2010/main" val="1019160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58E425-F44C-F295-73F7-47AA60298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>
            <a:extLst>
              <a:ext uri="{FF2B5EF4-FFF2-40B4-BE49-F238E27FC236}">
                <a16:creationId xmlns:a16="http://schemas.microsoft.com/office/drawing/2014/main" id="{9D712313-0A11-EA4B-597F-6876858D357D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C167507-B20C-1D94-2831-6C50F61E23EB}"/>
              </a:ext>
            </a:extLst>
          </p:cNvPr>
          <p:cNvSpPr/>
          <p:nvPr/>
        </p:nvSpPr>
        <p:spPr>
          <a:xfrm>
            <a:off x="502920" y="287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88F29A28-BE9E-5C37-8675-419355ECFDAE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82389465-B593-1485-289A-3EC35C7AB298}"/>
              </a:ext>
            </a:extLst>
          </p:cNvPr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 podataka</a:t>
            </a:r>
            <a:endParaRPr lang="en-US" sz="1700" i="1" dirty="0">
              <a:solidFill>
                <a:srgbClr val="00D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7F253109-BBC2-D83F-7A9D-DF6C0E6F678B}"/>
              </a:ext>
            </a:extLst>
          </p:cNvPr>
          <p:cNvSpPr/>
          <p:nvPr/>
        </p:nvSpPr>
        <p:spPr>
          <a:xfrm>
            <a:off x="384048" y="900090"/>
            <a:ext cx="8229600" cy="2125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završetku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upisa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kreira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SAT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koji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omogućava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kasnije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pronalaženje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rekonstrukciju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3" name="Shape 24">
            <a:extLst>
              <a:ext uri="{FF2B5EF4-FFF2-40B4-BE49-F238E27FC236}">
                <a16:creationId xmlns:a16="http://schemas.microsoft.com/office/drawing/2014/main" id="{D51963FC-091E-951B-8C05-E10F173922A2}"/>
              </a:ext>
            </a:extLst>
          </p:cNvPr>
          <p:cNvSpPr/>
          <p:nvPr/>
        </p:nvSpPr>
        <p:spPr>
          <a:xfrm>
            <a:off x="320040" y="2355850"/>
            <a:ext cx="8503920" cy="2534201"/>
          </a:xfrm>
          <a:prstGeom prst="rect">
            <a:avLst/>
          </a:prstGeom>
          <a:solidFill>
            <a:srgbClr val="1A2B3C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5" name="Text 28">
            <a:extLst>
              <a:ext uri="{FF2B5EF4-FFF2-40B4-BE49-F238E27FC236}">
                <a16:creationId xmlns:a16="http://schemas.microsoft.com/office/drawing/2014/main" id="{F9402D8A-3119-D14B-3ECD-09F91062CDC9}"/>
              </a:ext>
            </a:extLst>
          </p:cNvPr>
          <p:cNvSpPr/>
          <p:nvPr/>
        </p:nvSpPr>
        <p:spPr>
          <a:xfrm>
            <a:off x="502920" y="2540247"/>
            <a:ext cx="8229600" cy="235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7" name="Text 30">
            <a:extLst>
              <a:ext uri="{FF2B5EF4-FFF2-40B4-BE49-F238E27FC236}">
                <a16:creationId xmlns:a16="http://schemas.microsoft.com/office/drawing/2014/main" id="{901E7A86-AC66-8CAF-897B-322036B8FBDB}"/>
              </a:ext>
            </a:extLst>
          </p:cNvPr>
          <p:cNvSpPr/>
          <p:nvPr/>
        </p:nvSpPr>
        <p:spPr>
          <a:xfrm>
            <a:off x="502920" y="3377607"/>
            <a:ext cx="8229600" cy="235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sat_entry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file_id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file_id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first_sector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first_sector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last_sector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last_sector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num_sectors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sectors_needed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data_size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':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original_size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'timestamp':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datetime.now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isoformat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60962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E1284573-07D8-495D-95C6-CBF70BF46A83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A7F4C5B6-6D2A-44B8-9758-D19283EA52C2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31B119B5-C1D4-B8EB-9FB9-A113073F3942}"/>
              </a:ext>
            </a:extLst>
          </p:cNvPr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Evidencija skrivenih podataka korišćenjem SAT tabele</a:t>
            </a:r>
            <a:endParaRPr lang="en-US" sz="1700" i="1" dirty="0">
              <a:solidFill>
                <a:srgbClr val="00D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164DF25C-5CFD-CCA1-020B-CF626337D4A1}"/>
              </a:ext>
            </a:extLst>
          </p:cNvPr>
          <p:cNvSpPr/>
          <p:nvPr/>
        </p:nvSpPr>
        <p:spPr>
          <a:xfrm>
            <a:off x="502920" y="287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3" name="Text 28">
            <a:extLst>
              <a:ext uri="{FF2B5EF4-FFF2-40B4-BE49-F238E27FC236}">
                <a16:creationId xmlns:a16="http://schemas.microsoft.com/office/drawing/2014/main" id="{3E716F4A-E1B4-B073-C62C-EFAF46F30095}"/>
              </a:ext>
            </a:extLst>
          </p:cNvPr>
          <p:cNvSpPr/>
          <p:nvPr/>
        </p:nvSpPr>
        <p:spPr>
          <a:xfrm>
            <a:off x="502920" y="2540247"/>
            <a:ext cx="8229600" cy="235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0C3134E6-0B74-56A2-A63D-B7C42C45F569}"/>
              </a:ext>
            </a:extLst>
          </p:cNvPr>
          <p:cNvSpPr/>
          <p:nvPr/>
        </p:nvSpPr>
        <p:spPr>
          <a:xfrm>
            <a:off x="384048" y="1051560"/>
            <a:ext cx="8229600" cy="2125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Prilikom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pokretanja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SAT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učitava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pozivom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load_sat_from_disk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u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konstruktora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StorageManager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formira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zauzetih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used_sectors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postupkom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sprečava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mogućnost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novi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podaci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upisani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preko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već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postojećih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skrivenih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sadržaja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53F701-3486-CA27-D79A-E522FA202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13168236-A9CA-1F51-89E8-A4B36D51DB15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41F01CE6-7F95-165F-69C1-216331D7507C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CF3D948A-4A20-132F-EA05-846C8F65664F}"/>
              </a:ext>
            </a:extLst>
          </p:cNvPr>
          <p:cNvSpPr/>
          <p:nvPr/>
        </p:nvSpPr>
        <p:spPr>
          <a:xfrm>
            <a:off x="406400" y="1036407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Evidencija skrivenih podataka korišćenjem SAT tabele</a:t>
            </a:r>
            <a:endParaRPr lang="en-US" sz="1700" i="1" dirty="0">
              <a:solidFill>
                <a:srgbClr val="00D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8D22A3E4-3FBC-B4B7-1CC7-93C14F37B7D9}"/>
              </a:ext>
            </a:extLst>
          </p:cNvPr>
          <p:cNvSpPr/>
          <p:nvPr/>
        </p:nvSpPr>
        <p:spPr>
          <a:xfrm>
            <a:off x="502920" y="287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1" name="Shape 24">
            <a:extLst>
              <a:ext uri="{FF2B5EF4-FFF2-40B4-BE49-F238E27FC236}">
                <a16:creationId xmlns:a16="http://schemas.microsoft.com/office/drawing/2014/main" id="{5E59AB94-C2C7-D804-9DD0-1B38CF682728}"/>
              </a:ext>
            </a:extLst>
          </p:cNvPr>
          <p:cNvSpPr/>
          <p:nvPr/>
        </p:nvSpPr>
        <p:spPr>
          <a:xfrm>
            <a:off x="320040" y="1437682"/>
            <a:ext cx="8503920" cy="3705818"/>
          </a:xfrm>
          <a:prstGeom prst="rect">
            <a:avLst/>
          </a:prstGeom>
          <a:solidFill>
            <a:srgbClr val="1A2B3C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43" name="Text 28">
            <a:extLst>
              <a:ext uri="{FF2B5EF4-FFF2-40B4-BE49-F238E27FC236}">
                <a16:creationId xmlns:a16="http://schemas.microsoft.com/office/drawing/2014/main" id="{5C5A7C96-D9E4-F5D2-948B-A9D7AFF64BB1}"/>
              </a:ext>
            </a:extLst>
          </p:cNvPr>
          <p:cNvSpPr/>
          <p:nvPr/>
        </p:nvSpPr>
        <p:spPr>
          <a:xfrm>
            <a:off x="502920" y="2540247"/>
            <a:ext cx="8229600" cy="235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5" name="Text 30">
            <a:extLst>
              <a:ext uri="{FF2B5EF4-FFF2-40B4-BE49-F238E27FC236}">
                <a16:creationId xmlns:a16="http://schemas.microsoft.com/office/drawing/2014/main" id="{E9F15E4F-0919-7488-ECE3-C349D17A9681}"/>
              </a:ext>
            </a:extLst>
          </p:cNvPr>
          <p:cNvSpPr/>
          <p:nvPr/>
        </p:nvSpPr>
        <p:spPr>
          <a:xfrm>
            <a:off x="502920" y="3161994"/>
            <a:ext cx="8229600" cy="235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load_sat_from_disk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(self):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sat_table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=[]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with open(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self.sat_file_path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'r') as f: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sat_table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json.load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self.used_sectors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set()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entry in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sat_table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first = entry['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first_sector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']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num = entry['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num_sectors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']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for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 range(num):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self.used_sectors.add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(first +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self.sector_size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print(f"[Storage manager info]: SAT loaded from {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self.sat_file_path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({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sat_table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 files)")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Exception as e: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with open(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self.sat_file_path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'w') as f: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json.dump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sat_table</a:t>
            </a: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print(f"[Storage manager error]: No available SAT, making a new one.")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r>
              <a:rPr lang="en-US" sz="11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sat_table</a:t>
            </a:r>
            <a:endParaRPr lang="en-US" sz="115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42396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87211-1177-972A-F729-0767D34BC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58B7AD98-38C6-11D4-0FC5-D3DE9DBDB12F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ED114E6E-DE26-C7AC-4DBA-D5595FD25BF5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99659F84-CABF-9FC6-5E5D-FD4D5D1E0029}"/>
              </a:ext>
            </a:extLst>
          </p:cNvPr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Rekonstrukcija podataka</a:t>
            </a:r>
            <a:endParaRPr lang="en-US" sz="1700" i="1" dirty="0">
              <a:solidFill>
                <a:srgbClr val="00D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Text 15">
            <a:extLst>
              <a:ext uri="{FF2B5EF4-FFF2-40B4-BE49-F238E27FC236}">
                <a16:creationId xmlns:a16="http://schemas.microsoft.com/office/drawing/2014/main" id="{3C453727-44AF-6744-39BA-1A047ED26F8D}"/>
              </a:ext>
            </a:extLst>
          </p:cNvPr>
          <p:cNvSpPr/>
          <p:nvPr/>
        </p:nvSpPr>
        <p:spPr>
          <a:xfrm>
            <a:off x="457200" y="1419861"/>
            <a:ext cx="8229600" cy="2125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čitanja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skrivenih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započinje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pronalaženjem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odgovarajućeg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SAT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read_from_slack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file_id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prosleđivanja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identifikatora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željenog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Na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lokaciji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određuju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fizičke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kojih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treba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izvršiti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čitanje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Sadržaj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svih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koji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pripadaju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izabranom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učitava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uređaja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jedinstveni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binarni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koji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vraća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pozivom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read_from_device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sectors_to_read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data_size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Pošto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prilikom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skladištenja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poslednji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dopunjava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nulama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višak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uklanja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korišćenjem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originalne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veličine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sadržaja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sačuvane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SAT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264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2EA09-0650-2023-D18D-944B6E40C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7C4A7C3-B602-BB6C-F26B-2F5136311CC4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B020A1AA-5AC4-A0A3-4A05-957C32BF7D42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7CACD5F2-BA35-35FB-4CC2-B3BD19DC344A}"/>
              </a:ext>
            </a:extLst>
          </p:cNvPr>
          <p:cNvSpPr/>
          <p:nvPr/>
        </p:nvSpPr>
        <p:spPr>
          <a:xfrm>
            <a:off x="502920" y="98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Rekonstrukcija podataka</a:t>
            </a:r>
            <a:endParaRPr lang="en-US" sz="1700" i="1" dirty="0">
              <a:solidFill>
                <a:srgbClr val="00D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8">
            <a:extLst>
              <a:ext uri="{FF2B5EF4-FFF2-40B4-BE49-F238E27FC236}">
                <a16:creationId xmlns:a16="http://schemas.microsoft.com/office/drawing/2014/main" id="{D7A10B2F-7885-8246-6923-4063E1A01339}"/>
              </a:ext>
            </a:extLst>
          </p:cNvPr>
          <p:cNvSpPr/>
          <p:nvPr/>
        </p:nvSpPr>
        <p:spPr>
          <a:xfrm>
            <a:off x="502920" y="287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6" name="Shape 24">
            <a:extLst>
              <a:ext uri="{FF2B5EF4-FFF2-40B4-BE49-F238E27FC236}">
                <a16:creationId xmlns:a16="http://schemas.microsoft.com/office/drawing/2014/main" id="{9A9443F0-F912-64A5-73EF-9C7791880D48}"/>
              </a:ext>
            </a:extLst>
          </p:cNvPr>
          <p:cNvSpPr/>
          <p:nvPr/>
        </p:nvSpPr>
        <p:spPr>
          <a:xfrm>
            <a:off x="320040" y="1346200"/>
            <a:ext cx="8503920" cy="3797300"/>
          </a:xfrm>
          <a:prstGeom prst="rect">
            <a:avLst/>
          </a:prstGeom>
          <a:solidFill>
            <a:srgbClr val="1A2B3C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8" name="Text 28">
            <a:extLst>
              <a:ext uri="{FF2B5EF4-FFF2-40B4-BE49-F238E27FC236}">
                <a16:creationId xmlns:a16="http://schemas.microsoft.com/office/drawing/2014/main" id="{4F89AE2D-9799-AF56-F5D0-E9787356F0D5}"/>
              </a:ext>
            </a:extLst>
          </p:cNvPr>
          <p:cNvSpPr/>
          <p:nvPr/>
        </p:nvSpPr>
        <p:spPr>
          <a:xfrm>
            <a:off x="502920" y="2540247"/>
            <a:ext cx="8229600" cy="235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0" name="Text 30">
            <a:extLst>
              <a:ext uri="{FF2B5EF4-FFF2-40B4-BE49-F238E27FC236}">
                <a16:creationId xmlns:a16="http://schemas.microsoft.com/office/drawing/2014/main" id="{18CE1178-C6B9-9BAD-899F-E363BF41D3AC}"/>
              </a:ext>
            </a:extLst>
          </p:cNvPr>
          <p:cNvSpPr/>
          <p:nvPr/>
        </p:nvSpPr>
        <p:spPr>
          <a:xfrm>
            <a:off x="548640" y="3141982"/>
            <a:ext cx="8229600" cy="235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def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read_from_slack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blob_id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sr-Latn-RS" sz="90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sr-Latn-R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the SAT entry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sat_entry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None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entry in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self.sat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entry['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file_id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'] ==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blob_id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sat_entry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entry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sat_entry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print(f"[Storage manager info]: File '{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blob_id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}' not found in SAT")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None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#read file from sectors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first_sector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sat_entry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first_sector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']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last_sector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sat_entry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last_sector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']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data_size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sat_entry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data_size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']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sectors_to_read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sector for sector in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self.available_slack_sectors</a:t>
            </a:r>
            <a:endParaRPr lang="en-US" sz="90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first_sector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sector &lt;=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last_sector</a:t>
            </a:r>
            <a:endParaRPr lang="en-US" sz="90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file_data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self._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read_from_device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sectors_to_read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data_size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print(f"[Storage manager info]: Read '{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blob_id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}' from sectors {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first_sector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}-{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sat_entry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last_sector</a:t>
            </a: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']}")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r>
              <a:rPr lang="en-US" sz="90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file_data</a:t>
            </a:r>
            <a:endParaRPr lang="en-US" sz="900" dirty="0">
              <a:solidFill>
                <a:srgbClr val="00D4A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57904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54D50-94B5-B1ED-24A3-C501610B2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39489B43-3857-5445-23AD-5256C067A944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D8F2F894-D09D-29EC-2665-B4B3A2039E2F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2F168677-0AC5-D600-15CB-E584E6B1EBD0}"/>
              </a:ext>
            </a:extLst>
          </p:cNvPr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Brisanje podataka</a:t>
            </a:r>
            <a:endParaRPr lang="en-US" sz="1700" i="1" dirty="0">
              <a:solidFill>
                <a:srgbClr val="00D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Text 15">
            <a:extLst>
              <a:ext uri="{FF2B5EF4-FFF2-40B4-BE49-F238E27FC236}">
                <a16:creationId xmlns:a16="http://schemas.microsoft.com/office/drawing/2014/main" id="{8445C607-F3C3-E9F3-B9B7-B4A2FB5A7FCC}"/>
              </a:ext>
            </a:extLst>
          </p:cNvPr>
          <p:cNvSpPr/>
          <p:nvPr/>
        </p:nvSpPr>
        <p:spPr>
          <a:xfrm>
            <a:off x="457200" y="1419861"/>
            <a:ext cx="8229600" cy="2125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Brisanje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skrivenih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realizovano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prepisivanjem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svih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slack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koji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pripadaju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određenom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fajlu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nulama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Nakon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uspešnog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brisanja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fizičkog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sadržaja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odgovarajući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uklanja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SAT </a:t>
            </a:r>
            <a:r>
              <a:rPr lang="en-US" sz="125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tabele</a:t>
            </a: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45009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3786" y="1799678"/>
            <a:ext cx="1053846" cy="75895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5" name="Text 3"/>
          <p:cNvSpPr/>
          <p:nvPr/>
        </p:nvSpPr>
        <p:spPr>
          <a:xfrm>
            <a:off x="573786" y="1793326"/>
            <a:ext cx="1053846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16786" y="1799676"/>
            <a:ext cx="7025640" cy="758952"/>
          </a:xfrm>
          <a:prstGeom prst="rect">
            <a:avLst/>
          </a:prstGeom>
          <a:solidFill>
            <a:srgbClr val="1A2B3C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35658" y="1843244"/>
            <a:ext cx="6806089" cy="669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python3 slack_tool.py hide -d /dev/sdb1 -f file1.txt file2.pdf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-m /mnt/testusb -s ./sat.json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73786" y="2644649"/>
            <a:ext cx="1053846" cy="75895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9" name="Text 7"/>
          <p:cNvSpPr/>
          <p:nvPr/>
        </p:nvSpPr>
        <p:spPr>
          <a:xfrm>
            <a:off x="573786" y="2644649"/>
            <a:ext cx="1053846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Čitanje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16786" y="2644649"/>
            <a:ext cx="7025640" cy="758952"/>
          </a:xfrm>
          <a:prstGeom prst="rect">
            <a:avLst/>
          </a:prstGeom>
          <a:solidFill>
            <a:srgbClr val="1A2B3C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35658" y="2688217"/>
            <a:ext cx="6806089" cy="669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python3 slack_tool.py read -d /dev/sdb1 -f file1.txt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-m /mnt/testusb -s ./sat.json -o ./output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3786" y="3481157"/>
            <a:ext cx="1053846" cy="75895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13" name="Text 11"/>
          <p:cNvSpPr/>
          <p:nvPr/>
        </p:nvSpPr>
        <p:spPr>
          <a:xfrm>
            <a:off x="573786" y="3481157"/>
            <a:ext cx="1053846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Brisanje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16786" y="3481157"/>
            <a:ext cx="7025640" cy="758952"/>
          </a:xfrm>
          <a:prstGeom prst="rect">
            <a:avLst/>
          </a:prstGeom>
          <a:solidFill>
            <a:srgbClr val="1A2B3C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35658" y="3524725"/>
            <a:ext cx="6806089" cy="669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python3 slack_tool.py delete -d /dev/sdb1 -f file1.txt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-m /mnt/testusb -s ./sat.json</a:t>
            </a:r>
            <a:endParaRPr lang="en-US" sz="1050" dirty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54DC7D89-A759-AD0B-FB46-983B0C77F254}"/>
              </a:ext>
            </a:extLst>
          </p:cNvPr>
          <p:cNvSpPr/>
          <p:nvPr/>
        </p:nvSpPr>
        <p:spPr>
          <a:xfrm>
            <a:off x="573786" y="4325281"/>
            <a:ext cx="1053846" cy="758952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131D2B81-62A6-B060-6CF3-A0B25AD1E781}"/>
              </a:ext>
            </a:extLst>
          </p:cNvPr>
          <p:cNvSpPr/>
          <p:nvPr/>
        </p:nvSpPr>
        <p:spPr>
          <a:xfrm>
            <a:off x="573786" y="4325281"/>
            <a:ext cx="1053846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sr-Latn-R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 liste skrivenih fajlova</a:t>
            </a:r>
            <a:endParaRPr lang="en-US" sz="110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DE094319-F2F7-F2C4-A538-2B23DF8E81D4}"/>
              </a:ext>
            </a:extLst>
          </p:cNvPr>
          <p:cNvSpPr/>
          <p:nvPr/>
        </p:nvSpPr>
        <p:spPr>
          <a:xfrm>
            <a:off x="1716786" y="4325281"/>
            <a:ext cx="7025640" cy="758952"/>
          </a:xfrm>
          <a:prstGeom prst="rect">
            <a:avLst/>
          </a:prstGeom>
          <a:solidFill>
            <a:srgbClr val="1A2B3C"/>
          </a:solidFill>
          <a:ln w="12700">
            <a:solidFill>
              <a:srgbClr val="1B7A7A"/>
            </a:solidFill>
            <a:prstDash val="solid"/>
          </a:ln>
        </p:spPr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2CCEF3C3-24FF-ABA1-5ECC-903B58F72542}"/>
              </a:ext>
            </a:extLst>
          </p:cNvPr>
          <p:cNvSpPr/>
          <p:nvPr/>
        </p:nvSpPr>
        <p:spPr>
          <a:xfrm>
            <a:off x="1835658" y="4368849"/>
            <a:ext cx="6806089" cy="669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</a:t>
            </a: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python3 slack_tool.py list -d /dev/sdb1 -s ./</a:t>
            </a:r>
            <a:r>
              <a:rPr lang="en-US" sz="10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sat.json</a:t>
            </a: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-m /</a:t>
            </a:r>
            <a:r>
              <a:rPr lang="en-US" sz="10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mnt</a:t>
            </a:r>
            <a:r>
              <a:rPr lang="en-US" sz="10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 err="1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testusb</a:t>
            </a:r>
            <a:endParaRPr lang="en-US" sz="1050" dirty="0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70AC7DBC-46E3-7C9B-D4B1-1D2E0F347F85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7A7A"/>
          </a:solidFill>
          <a:ln/>
        </p:spPr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606A89CD-4824-54A0-A683-9B55381707B5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alata za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skrivanje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okviru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fajl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šćenjem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sr-Latn-R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</a:t>
            </a:r>
            <a:endParaRPr lang="en-US" sz="3200" dirty="0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C94200AD-8FC7-FDD3-0F79-EAE8FE58862E}"/>
              </a:ext>
            </a:extLst>
          </p:cNvPr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sr-Latn-RS" sz="17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Testiranje</a:t>
            </a:r>
            <a:endParaRPr lang="en-US" sz="1700" i="1" dirty="0">
              <a:solidFill>
                <a:srgbClr val="00D4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2698</TotalTime>
  <Words>3675</Words>
  <Application>Microsoft Office PowerPoint</Application>
  <PresentationFormat>On-screen Show (16:9)</PresentationFormat>
  <Paragraphs>360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Anja Tonsa Milovanović</cp:lastModifiedBy>
  <cp:revision>46</cp:revision>
  <dcterms:created xsi:type="dcterms:W3CDTF">2026-07-18T09:49:13Z</dcterms:created>
  <dcterms:modified xsi:type="dcterms:W3CDTF">2026-07-20T07:15:24Z</dcterms:modified>
</cp:coreProperties>
</file>